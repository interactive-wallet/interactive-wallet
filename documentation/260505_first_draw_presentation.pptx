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63" r:id="rId5"/>
    <p:sldId id="262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58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34"/>
    <p:restoredTop sz="94689"/>
  </p:normalViewPr>
  <p:slideViewPr>
    <p:cSldViewPr snapToGrid="0">
      <p:cViewPr>
        <p:scale>
          <a:sx n="81" d="100"/>
          <a:sy n="81" d="100"/>
        </p:scale>
        <p:origin x="2600" y="1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A1D768-A9C4-40D5-95E4-DB42A781D52B}" type="doc">
      <dgm:prSet loTypeId="urn:microsoft.com/office/officeart/2018/2/layout/IconLabelList" loCatId="icon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AAD414-D4D2-A142-A553-AFFC47F5634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Infrastructure:</a:t>
          </a:r>
          <a:r>
            <a:rPr lang="de-DE"/>
            <a:t> 4-node local Indy ledger running in Docker.</a:t>
          </a:r>
        </a:p>
      </dgm:t>
    </dgm:pt>
    <dgm:pt modelId="{8368B42D-2A0E-A043-A43E-16C515EC538A}" type="parTrans" cxnId="{A538E6C0-98C9-BA4F-82B4-5081DF6BA956}">
      <dgm:prSet/>
      <dgm:spPr/>
      <dgm:t>
        <a:bodyPr/>
        <a:lstStyle/>
        <a:p>
          <a:endParaRPr lang="de-DE"/>
        </a:p>
      </dgm:t>
    </dgm:pt>
    <dgm:pt modelId="{F1B1E0A1-62FD-1B46-9358-C44F2463C199}" type="sibTrans" cxnId="{A538E6C0-98C9-BA4F-82B4-5081DF6BA956}">
      <dgm:prSet/>
      <dgm:spPr/>
      <dgm:t>
        <a:bodyPr/>
        <a:lstStyle/>
        <a:p>
          <a:endParaRPr lang="de-DE"/>
        </a:p>
      </dgm:t>
    </dgm:pt>
    <dgm:pt modelId="{7C1FE640-0810-254D-9CFE-20344E33CE7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Provenance:</a:t>
          </a:r>
          <a:r>
            <a:rPr lang="de-DE"/>
            <a:t> BC Gov-maintained testbed for SSI development.</a:t>
          </a:r>
        </a:p>
      </dgm:t>
    </dgm:pt>
    <dgm:pt modelId="{104A4BBF-FDE4-E148-A898-E963F771DCD4}" type="parTrans" cxnId="{101FF5B5-8E3B-FD46-9226-4B982DEAC7FD}">
      <dgm:prSet/>
      <dgm:spPr/>
      <dgm:t>
        <a:bodyPr/>
        <a:lstStyle/>
        <a:p>
          <a:endParaRPr lang="de-DE"/>
        </a:p>
      </dgm:t>
    </dgm:pt>
    <dgm:pt modelId="{B4020CA6-A78C-2143-BE14-FF69D07AF796}" type="sibTrans" cxnId="{101FF5B5-8E3B-FD46-9226-4B982DEAC7FD}">
      <dgm:prSet/>
      <dgm:spPr/>
      <dgm:t>
        <a:bodyPr/>
        <a:lstStyle/>
        <a:p>
          <a:endParaRPr lang="de-DE"/>
        </a:p>
      </dgm:t>
    </dgm:pt>
    <dgm:pt modelId="{723F271D-B978-B64C-BF07-4843EBC22C0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What it stores:</a:t>
          </a:r>
          <a:r>
            <a:rPr lang="de-DE"/>
            <a:t> Public DIDs, schemas, and revocation registries.</a:t>
          </a:r>
        </a:p>
      </dgm:t>
    </dgm:pt>
    <dgm:pt modelId="{E8C2DB7E-E43E-5E43-86B6-33529C3B1940}" type="parTrans" cxnId="{367E23A7-21E3-5D47-B0DD-D59F73F2C9D5}">
      <dgm:prSet/>
      <dgm:spPr/>
      <dgm:t>
        <a:bodyPr/>
        <a:lstStyle/>
        <a:p>
          <a:endParaRPr lang="de-DE"/>
        </a:p>
      </dgm:t>
    </dgm:pt>
    <dgm:pt modelId="{0BBF9207-0C84-7743-B3CA-02E0636F2F92}" type="sibTrans" cxnId="{367E23A7-21E3-5D47-B0DD-D59F73F2C9D5}">
      <dgm:prSet/>
      <dgm:spPr/>
      <dgm:t>
        <a:bodyPr/>
        <a:lstStyle/>
        <a:p>
          <a:endParaRPr lang="de-DE"/>
        </a:p>
      </dgm:t>
    </dgm:pt>
    <dgm:pt modelId="{2E881ADC-4C04-B447-9CE3-33109A871479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What it doesn't:</a:t>
          </a:r>
          <a:r>
            <a:rPr lang="de-DE"/>
            <a:t> No private user data; personal attributes stay in the wallet.</a:t>
          </a:r>
        </a:p>
      </dgm:t>
    </dgm:pt>
    <dgm:pt modelId="{DE7966D8-335C-5649-84DA-372BA931B202}" type="parTrans" cxnId="{1445241F-CB48-A741-A08F-029B961C9BF4}">
      <dgm:prSet/>
      <dgm:spPr/>
      <dgm:t>
        <a:bodyPr/>
        <a:lstStyle/>
        <a:p>
          <a:endParaRPr lang="de-DE"/>
        </a:p>
      </dgm:t>
    </dgm:pt>
    <dgm:pt modelId="{8C58A690-7B47-0645-9860-39DE97191686}" type="sibTrans" cxnId="{1445241F-CB48-A741-A08F-029B961C9BF4}">
      <dgm:prSet/>
      <dgm:spPr/>
      <dgm:t>
        <a:bodyPr/>
        <a:lstStyle/>
        <a:p>
          <a:endParaRPr lang="de-DE"/>
        </a:p>
      </dgm:t>
    </dgm:pt>
    <dgm:pt modelId="{7AE4FE05-1B50-4FFB-9910-5ABD752ADA84}" type="pres">
      <dgm:prSet presAssocID="{00A1D768-A9C4-40D5-95E4-DB42A781D52B}" presName="root" presStyleCnt="0">
        <dgm:presLayoutVars>
          <dgm:dir/>
          <dgm:resizeHandles val="exact"/>
        </dgm:presLayoutVars>
      </dgm:prSet>
      <dgm:spPr/>
    </dgm:pt>
    <dgm:pt modelId="{96BC639D-55B7-49BC-91E6-7609B4C0E739}" type="pres">
      <dgm:prSet presAssocID="{40AAD414-D4D2-A142-A553-AFFC47F56348}" presName="compNode" presStyleCnt="0"/>
      <dgm:spPr/>
    </dgm:pt>
    <dgm:pt modelId="{98359D2A-85C0-4885-8464-E574469DF02D}" type="pres">
      <dgm:prSet presAssocID="{40AAD414-D4D2-A142-A553-AFFC47F5634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zessor"/>
        </a:ext>
      </dgm:extLst>
    </dgm:pt>
    <dgm:pt modelId="{B726B2A9-2B19-4096-921A-BE7A1964769C}" type="pres">
      <dgm:prSet presAssocID="{40AAD414-D4D2-A142-A553-AFFC47F56348}" presName="spaceRect" presStyleCnt="0"/>
      <dgm:spPr/>
    </dgm:pt>
    <dgm:pt modelId="{2BE6757C-E493-411C-A09E-575AA48910EF}" type="pres">
      <dgm:prSet presAssocID="{40AAD414-D4D2-A142-A553-AFFC47F56348}" presName="textRect" presStyleLbl="revTx" presStyleIdx="0" presStyleCnt="4">
        <dgm:presLayoutVars>
          <dgm:chMax val="1"/>
          <dgm:chPref val="1"/>
        </dgm:presLayoutVars>
      </dgm:prSet>
      <dgm:spPr/>
    </dgm:pt>
    <dgm:pt modelId="{1934EF33-FD7E-48A7-9618-8E9912093D3B}" type="pres">
      <dgm:prSet presAssocID="{F1B1E0A1-62FD-1B46-9358-C44F2463C199}" presName="sibTrans" presStyleCnt="0"/>
      <dgm:spPr/>
    </dgm:pt>
    <dgm:pt modelId="{3551FF34-7E80-492C-B500-EF91FF3717C4}" type="pres">
      <dgm:prSet presAssocID="{7C1FE640-0810-254D-9CFE-20344E33CE70}" presName="compNode" presStyleCnt="0"/>
      <dgm:spPr/>
    </dgm:pt>
    <dgm:pt modelId="{C57FDBB8-29C3-49D4-951F-B18D8CDB320F}" type="pres">
      <dgm:prSet presAssocID="{7C1FE640-0810-254D-9CFE-20344E33CE7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3B03AB0-65A6-4D8D-B5F2-DA32E6B4FFE1}" type="pres">
      <dgm:prSet presAssocID="{7C1FE640-0810-254D-9CFE-20344E33CE70}" presName="spaceRect" presStyleCnt="0"/>
      <dgm:spPr/>
    </dgm:pt>
    <dgm:pt modelId="{6B38F87B-1A3A-4D70-8DC8-95DAD25000D6}" type="pres">
      <dgm:prSet presAssocID="{7C1FE640-0810-254D-9CFE-20344E33CE70}" presName="textRect" presStyleLbl="revTx" presStyleIdx="1" presStyleCnt="4">
        <dgm:presLayoutVars>
          <dgm:chMax val="1"/>
          <dgm:chPref val="1"/>
        </dgm:presLayoutVars>
      </dgm:prSet>
      <dgm:spPr/>
    </dgm:pt>
    <dgm:pt modelId="{17A78558-E9F5-4773-8AC0-A1DB5A3E4C9F}" type="pres">
      <dgm:prSet presAssocID="{B4020CA6-A78C-2143-BE14-FF69D07AF796}" presName="sibTrans" presStyleCnt="0"/>
      <dgm:spPr/>
    </dgm:pt>
    <dgm:pt modelId="{E75DCF49-80AD-48B7-ACCC-743647EB0755}" type="pres">
      <dgm:prSet presAssocID="{723F271D-B978-B64C-BF07-4843EBC22C04}" presName="compNode" presStyleCnt="0"/>
      <dgm:spPr/>
    </dgm:pt>
    <dgm:pt modelId="{7F532161-5D86-4E43-BFD9-79BD6ED9BDB6}" type="pres">
      <dgm:prSet presAssocID="{723F271D-B978-B64C-BF07-4843EBC22C0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7D87D2B-74F5-4D2D-A3D9-BDAA01ECEA06}" type="pres">
      <dgm:prSet presAssocID="{723F271D-B978-B64C-BF07-4843EBC22C04}" presName="spaceRect" presStyleCnt="0"/>
      <dgm:spPr/>
    </dgm:pt>
    <dgm:pt modelId="{4D27F549-72E2-42EC-B44A-6109948B4288}" type="pres">
      <dgm:prSet presAssocID="{723F271D-B978-B64C-BF07-4843EBC22C04}" presName="textRect" presStyleLbl="revTx" presStyleIdx="2" presStyleCnt="4">
        <dgm:presLayoutVars>
          <dgm:chMax val="1"/>
          <dgm:chPref val="1"/>
        </dgm:presLayoutVars>
      </dgm:prSet>
      <dgm:spPr/>
    </dgm:pt>
    <dgm:pt modelId="{4479735B-3A55-4ACB-AF29-16AC5EFCF1DE}" type="pres">
      <dgm:prSet presAssocID="{0BBF9207-0C84-7743-B3CA-02E0636F2F92}" presName="sibTrans" presStyleCnt="0"/>
      <dgm:spPr/>
    </dgm:pt>
    <dgm:pt modelId="{FE5C9DE2-F748-4045-BD22-18F1DEE81E8D}" type="pres">
      <dgm:prSet presAssocID="{2E881ADC-4C04-B447-9CE3-33109A871479}" presName="compNode" presStyleCnt="0"/>
      <dgm:spPr/>
    </dgm:pt>
    <dgm:pt modelId="{B07A1AA6-394A-4F57-AB0D-87D5F9716EB7}" type="pres">
      <dgm:prSet presAssocID="{2E881ADC-4C04-B447-9CE3-33109A87147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ldbörse"/>
        </a:ext>
      </dgm:extLst>
    </dgm:pt>
    <dgm:pt modelId="{8A9AD015-5B30-45F7-A001-419E307DC607}" type="pres">
      <dgm:prSet presAssocID="{2E881ADC-4C04-B447-9CE3-33109A871479}" presName="spaceRect" presStyleCnt="0"/>
      <dgm:spPr/>
    </dgm:pt>
    <dgm:pt modelId="{A45D3A32-C9EA-4762-94DB-CA477A976AA7}" type="pres">
      <dgm:prSet presAssocID="{2E881ADC-4C04-B447-9CE3-33109A8714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445241F-CB48-A741-A08F-029B961C9BF4}" srcId="{00A1D768-A9C4-40D5-95E4-DB42A781D52B}" destId="{2E881ADC-4C04-B447-9CE3-33109A871479}" srcOrd="3" destOrd="0" parTransId="{DE7966D8-335C-5649-84DA-372BA931B202}" sibTransId="{8C58A690-7B47-0645-9860-39DE97191686}"/>
    <dgm:cxn modelId="{96E70A2A-8221-104C-BDD5-D8870D823612}" type="presOf" srcId="{00A1D768-A9C4-40D5-95E4-DB42A781D52B}" destId="{7AE4FE05-1B50-4FFB-9910-5ABD752ADA84}" srcOrd="0" destOrd="0" presId="urn:microsoft.com/office/officeart/2018/2/layout/IconLabelList"/>
    <dgm:cxn modelId="{EF9CAA33-C7F8-7A4D-9ACC-AB9FF7BD13FF}" type="presOf" srcId="{7C1FE640-0810-254D-9CFE-20344E33CE70}" destId="{6B38F87B-1A3A-4D70-8DC8-95DAD25000D6}" srcOrd="0" destOrd="0" presId="urn:microsoft.com/office/officeart/2018/2/layout/IconLabelList"/>
    <dgm:cxn modelId="{32940365-72CF-0C4E-BA18-7234A32883C2}" type="presOf" srcId="{2E881ADC-4C04-B447-9CE3-33109A871479}" destId="{A45D3A32-C9EA-4762-94DB-CA477A976AA7}" srcOrd="0" destOrd="0" presId="urn:microsoft.com/office/officeart/2018/2/layout/IconLabelList"/>
    <dgm:cxn modelId="{D931BD6E-E3B5-6C4A-9384-D8E8029D4698}" type="presOf" srcId="{40AAD414-D4D2-A142-A553-AFFC47F56348}" destId="{2BE6757C-E493-411C-A09E-575AA48910EF}" srcOrd="0" destOrd="0" presId="urn:microsoft.com/office/officeart/2018/2/layout/IconLabelList"/>
    <dgm:cxn modelId="{7998978B-6F30-4E43-AC95-0036A4E11363}" type="presOf" srcId="{723F271D-B978-B64C-BF07-4843EBC22C04}" destId="{4D27F549-72E2-42EC-B44A-6109948B4288}" srcOrd="0" destOrd="0" presId="urn:microsoft.com/office/officeart/2018/2/layout/IconLabelList"/>
    <dgm:cxn modelId="{367E23A7-21E3-5D47-B0DD-D59F73F2C9D5}" srcId="{00A1D768-A9C4-40D5-95E4-DB42A781D52B}" destId="{723F271D-B978-B64C-BF07-4843EBC22C04}" srcOrd="2" destOrd="0" parTransId="{E8C2DB7E-E43E-5E43-86B6-33529C3B1940}" sibTransId="{0BBF9207-0C84-7743-B3CA-02E0636F2F92}"/>
    <dgm:cxn modelId="{101FF5B5-8E3B-FD46-9226-4B982DEAC7FD}" srcId="{00A1D768-A9C4-40D5-95E4-DB42A781D52B}" destId="{7C1FE640-0810-254D-9CFE-20344E33CE70}" srcOrd="1" destOrd="0" parTransId="{104A4BBF-FDE4-E148-A898-E963F771DCD4}" sibTransId="{B4020CA6-A78C-2143-BE14-FF69D07AF796}"/>
    <dgm:cxn modelId="{A538E6C0-98C9-BA4F-82B4-5081DF6BA956}" srcId="{00A1D768-A9C4-40D5-95E4-DB42A781D52B}" destId="{40AAD414-D4D2-A142-A553-AFFC47F56348}" srcOrd="0" destOrd="0" parTransId="{8368B42D-2A0E-A043-A43E-16C515EC538A}" sibTransId="{F1B1E0A1-62FD-1B46-9358-C44F2463C199}"/>
    <dgm:cxn modelId="{40BFD6DA-23C5-8C4C-BCA9-F99AA51F7B7A}" type="presParOf" srcId="{7AE4FE05-1B50-4FFB-9910-5ABD752ADA84}" destId="{96BC639D-55B7-49BC-91E6-7609B4C0E739}" srcOrd="0" destOrd="0" presId="urn:microsoft.com/office/officeart/2018/2/layout/IconLabelList"/>
    <dgm:cxn modelId="{B0A82616-66EB-A845-AA00-F64818D4F9DB}" type="presParOf" srcId="{96BC639D-55B7-49BC-91E6-7609B4C0E739}" destId="{98359D2A-85C0-4885-8464-E574469DF02D}" srcOrd="0" destOrd="0" presId="urn:microsoft.com/office/officeart/2018/2/layout/IconLabelList"/>
    <dgm:cxn modelId="{1838B1AB-31C4-394F-A6BE-B42A4EB947B9}" type="presParOf" srcId="{96BC639D-55B7-49BC-91E6-7609B4C0E739}" destId="{B726B2A9-2B19-4096-921A-BE7A1964769C}" srcOrd="1" destOrd="0" presId="urn:microsoft.com/office/officeart/2018/2/layout/IconLabelList"/>
    <dgm:cxn modelId="{CE5BC79D-B6C2-0D46-8BFA-7278D52E6E3F}" type="presParOf" srcId="{96BC639D-55B7-49BC-91E6-7609B4C0E739}" destId="{2BE6757C-E493-411C-A09E-575AA48910EF}" srcOrd="2" destOrd="0" presId="urn:microsoft.com/office/officeart/2018/2/layout/IconLabelList"/>
    <dgm:cxn modelId="{B9C2A042-4872-A64A-92F0-6E2622D596AB}" type="presParOf" srcId="{7AE4FE05-1B50-4FFB-9910-5ABD752ADA84}" destId="{1934EF33-FD7E-48A7-9618-8E9912093D3B}" srcOrd="1" destOrd="0" presId="urn:microsoft.com/office/officeart/2018/2/layout/IconLabelList"/>
    <dgm:cxn modelId="{BB436585-11B4-9C4D-94EC-AD42AD72B036}" type="presParOf" srcId="{7AE4FE05-1B50-4FFB-9910-5ABD752ADA84}" destId="{3551FF34-7E80-492C-B500-EF91FF3717C4}" srcOrd="2" destOrd="0" presId="urn:microsoft.com/office/officeart/2018/2/layout/IconLabelList"/>
    <dgm:cxn modelId="{5A1E9A04-94FB-3F43-9A0A-A4340ED88547}" type="presParOf" srcId="{3551FF34-7E80-492C-B500-EF91FF3717C4}" destId="{C57FDBB8-29C3-49D4-951F-B18D8CDB320F}" srcOrd="0" destOrd="0" presId="urn:microsoft.com/office/officeart/2018/2/layout/IconLabelList"/>
    <dgm:cxn modelId="{336D4C59-68CA-144A-9473-0630B63C04D2}" type="presParOf" srcId="{3551FF34-7E80-492C-B500-EF91FF3717C4}" destId="{E3B03AB0-65A6-4D8D-B5F2-DA32E6B4FFE1}" srcOrd="1" destOrd="0" presId="urn:microsoft.com/office/officeart/2018/2/layout/IconLabelList"/>
    <dgm:cxn modelId="{B6043FBC-D13C-2647-BCC5-E6C68DB725CC}" type="presParOf" srcId="{3551FF34-7E80-492C-B500-EF91FF3717C4}" destId="{6B38F87B-1A3A-4D70-8DC8-95DAD25000D6}" srcOrd="2" destOrd="0" presId="urn:microsoft.com/office/officeart/2018/2/layout/IconLabelList"/>
    <dgm:cxn modelId="{1570BB9B-46B7-C74E-8757-E6CB3FF52746}" type="presParOf" srcId="{7AE4FE05-1B50-4FFB-9910-5ABD752ADA84}" destId="{17A78558-E9F5-4773-8AC0-A1DB5A3E4C9F}" srcOrd="3" destOrd="0" presId="urn:microsoft.com/office/officeart/2018/2/layout/IconLabelList"/>
    <dgm:cxn modelId="{9EB2ACDA-0AE7-FC49-8F72-5C2F957FB543}" type="presParOf" srcId="{7AE4FE05-1B50-4FFB-9910-5ABD752ADA84}" destId="{E75DCF49-80AD-48B7-ACCC-743647EB0755}" srcOrd="4" destOrd="0" presId="urn:microsoft.com/office/officeart/2018/2/layout/IconLabelList"/>
    <dgm:cxn modelId="{11DCE402-9717-5742-840A-C6BC5C7521FF}" type="presParOf" srcId="{E75DCF49-80AD-48B7-ACCC-743647EB0755}" destId="{7F532161-5D86-4E43-BFD9-79BD6ED9BDB6}" srcOrd="0" destOrd="0" presId="urn:microsoft.com/office/officeart/2018/2/layout/IconLabelList"/>
    <dgm:cxn modelId="{8B72B160-2BA7-2744-88AF-8A524B6D6101}" type="presParOf" srcId="{E75DCF49-80AD-48B7-ACCC-743647EB0755}" destId="{17D87D2B-74F5-4D2D-A3D9-BDAA01ECEA06}" srcOrd="1" destOrd="0" presId="urn:microsoft.com/office/officeart/2018/2/layout/IconLabelList"/>
    <dgm:cxn modelId="{23498583-1E3E-C44C-AB00-BA8DDD41F6EB}" type="presParOf" srcId="{E75DCF49-80AD-48B7-ACCC-743647EB0755}" destId="{4D27F549-72E2-42EC-B44A-6109948B4288}" srcOrd="2" destOrd="0" presId="urn:microsoft.com/office/officeart/2018/2/layout/IconLabelList"/>
    <dgm:cxn modelId="{358129CC-7DD9-574D-B365-DD6734B507E3}" type="presParOf" srcId="{7AE4FE05-1B50-4FFB-9910-5ABD752ADA84}" destId="{4479735B-3A55-4ACB-AF29-16AC5EFCF1DE}" srcOrd="5" destOrd="0" presId="urn:microsoft.com/office/officeart/2018/2/layout/IconLabelList"/>
    <dgm:cxn modelId="{41C7DD49-FFAC-4C47-BE54-767D1D50E43A}" type="presParOf" srcId="{7AE4FE05-1B50-4FFB-9910-5ABD752ADA84}" destId="{FE5C9DE2-F748-4045-BD22-18F1DEE81E8D}" srcOrd="6" destOrd="0" presId="urn:microsoft.com/office/officeart/2018/2/layout/IconLabelList"/>
    <dgm:cxn modelId="{7B80CC85-A612-D944-A72F-5F5BBE377FBB}" type="presParOf" srcId="{FE5C9DE2-F748-4045-BD22-18F1DEE81E8D}" destId="{B07A1AA6-394A-4F57-AB0D-87D5F9716EB7}" srcOrd="0" destOrd="0" presId="urn:microsoft.com/office/officeart/2018/2/layout/IconLabelList"/>
    <dgm:cxn modelId="{D84B85E4-4EB1-D644-BF01-9C2A7A66E1A9}" type="presParOf" srcId="{FE5C9DE2-F748-4045-BD22-18F1DEE81E8D}" destId="{8A9AD015-5B30-45F7-A001-419E307DC607}" srcOrd="1" destOrd="0" presId="urn:microsoft.com/office/officeart/2018/2/layout/IconLabelList"/>
    <dgm:cxn modelId="{0F15A30A-5EE4-DF43-B02B-981A67288A60}" type="presParOf" srcId="{FE5C9DE2-F748-4045-BD22-18F1DEE81E8D}" destId="{A45D3A32-C9EA-4762-94DB-CA477A976AA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59D2A-85C0-4885-8464-E574469DF02D}">
      <dsp:nvSpPr>
        <dsp:cNvPr id="0" name=""/>
        <dsp:cNvSpPr/>
      </dsp:nvSpPr>
      <dsp:spPr>
        <a:xfrm>
          <a:off x="540851" y="456359"/>
          <a:ext cx="842691" cy="842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E6757C-E493-411C-A09E-575AA48910EF}">
      <dsp:nvSpPr>
        <dsp:cNvPr id="0" name=""/>
        <dsp:cNvSpPr/>
      </dsp:nvSpPr>
      <dsp:spPr>
        <a:xfrm>
          <a:off x="25873" y="1606296"/>
          <a:ext cx="18726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1" kern="1200"/>
            <a:t>Infrastructure:</a:t>
          </a:r>
          <a:r>
            <a:rPr lang="de-DE" sz="1200" kern="1200"/>
            <a:t> 4-node local Indy ledger running in Docker.</a:t>
          </a:r>
        </a:p>
      </dsp:txBody>
      <dsp:txXfrm>
        <a:off x="25873" y="1606296"/>
        <a:ext cx="1872648" cy="720000"/>
      </dsp:txXfrm>
    </dsp:sp>
    <dsp:sp modelId="{C57FDBB8-29C3-49D4-951F-B18D8CDB320F}">
      <dsp:nvSpPr>
        <dsp:cNvPr id="0" name=""/>
        <dsp:cNvSpPr/>
      </dsp:nvSpPr>
      <dsp:spPr>
        <a:xfrm>
          <a:off x="2741214" y="456359"/>
          <a:ext cx="842691" cy="842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38F87B-1A3A-4D70-8DC8-95DAD25000D6}">
      <dsp:nvSpPr>
        <dsp:cNvPr id="0" name=""/>
        <dsp:cNvSpPr/>
      </dsp:nvSpPr>
      <dsp:spPr>
        <a:xfrm>
          <a:off x="2226235" y="1606296"/>
          <a:ext cx="18726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1" kern="1200"/>
            <a:t>Provenance:</a:t>
          </a:r>
          <a:r>
            <a:rPr lang="de-DE" sz="1200" kern="1200"/>
            <a:t> BC Gov-maintained testbed for SSI development.</a:t>
          </a:r>
        </a:p>
      </dsp:txBody>
      <dsp:txXfrm>
        <a:off x="2226235" y="1606296"/>
        <a:ext cx="1872648" cy="720000"/>
      </dsp:txXfrm>
    </dsp:sp>
    <dsp:sp modelId="{7F532161-5D86-4E43-BFD9-79BD6ED9BDB6}">
      <dsp:nvSpPr>
        <dsp:cNvPr id="0" name=""/>
        <dsp:cNvSpPr/>
      </dsp:nvSpPr>
      <dsp:spPr>
        <a:xfrm>
          <a:off x="540851" y="2794458"/>
          <a:ext cx="842691" cy="842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D27F549-72E2-42EC-B44A-6109948B4288}">
      <dsp:nvSpPr>
        <dsp:cNvPr id="0" name=""/>
        <dsp:cNvSpPr/>
      </dsp:nvSpPr>
      <dsp:spPr>
        <a:xfrm>
          <a:off x="25873" y="3944395"/>
          <a:ext cx="18726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1" kern="1200"/>
            <a:t>What it stores:</a:t>
          </a:r>
          <a:r>
            <a:rPr lang="de-DE" sz="1200" kern="1200"/>
            <a:t> Public DIDs, schemas, and revocation registries.</a:t>
          </a:r>
        </a:p>
      </dsp:txBody>
      <dsp:txXfrm>
        <a:off x="25873" y="3944395"/>
        <a:ext cx="1872648" cy="720000"/>
      </dsp:txXfrm>
    </dsp:sp>
    <dsp:sp modelId="{B07A1AA6-394A-4F57-AB0D-87D5F9716EB7}">
      <dsp:nvSpPr>
        <dsp:cNvPr id="0" name=""/>
        <dsp:cNvSpPr/>
      </dsp:nvSpPr>
      <dsp:spPr>
        <a:xfrm>
          <a:off x="2741214" y="2794458"/>
          <a:ext cx="842691" cy="8426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5D3A32-C9EA-4762-94DB-CA477A976AA7}">
      <dsp:nvSpPr>
        <dsp:cNvPr id="0" name=""/>
        <dsp:cNvSpPr/>
      </dsp:nvSpPr>
      <dsp:spPr>
        <a:xfrm>
          <a:off x="2226235" y="3944395"/>
          <a:ext cx="18726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1" kern="1200"/>
            <a:t>What it doesn't:</a:t>
          </a:r>
          <a:r>
            <a:rPr lang="de-DE" sz="1200" kern="1200"/>
            <a:t> No private user data; personal attributes stay in the wallet.</a:t>
          </a:r>
        </a:p>
      </dsp:txBody>
      <dsp:txXfrm>
        <a:off x="2226235" y="3944395"/>
        <a:ext cx="187264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BAD24-AB1E-F84F-824D-ECAC70D4978F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A1E53-D3E3-D548-9E52-C6D1E80522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85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verifiable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registry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a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b="1" dirty="0"/>
              <a:t>VON network</a:t>
            </a:r>
            <a:r>
              <a:rPr lang="de-DE" dirty="0"/>
              <a:t>. This </a:t>
            </a:r>
            <a:r>
              <a:rPr lang="de-DE" dirty="0" err="1"/>
              <a:t>provides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fully </a:t>
            </a: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consisting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Indy </a:t>
            </a:r>
            <a:r>
              <a:rPr lang="de-DE" dirty="0" err="1"/>
              <a:t>ledger</a:t>
            </a:r>
            <a:r>
              <a:rPr lang="de-DE" dirty="0"/>
              <a:t> </a:t>
            </a:r>
            <a:r>
              <a:rPr lang="de-DE" dirty="0" err="1"/>
              <a:t>nodes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in Docker </a:t>
            </a:r>
            <a:r>
              <a:rPr lang="de-DE" dirty="0" err="1"/>
              <a:t>containers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industry</a:t>
            </a:r>
            <a:r>
              <a:rPr lang="de-DE" dirty="0"/>
              <a:t>-standard </a:t>
            </a:r>
            <a:r>
              <a:rPr lang="de-DE" dirty="0" err="1"/>
              <a:t>testbed</a:t>
            </a:r>
            <a:r>
              <a:rPr lang="de-DE" dirty="0"/>
              <a:t> </a:t>
            </a:r>
            <a:r>
              <a:rPr lang="de-DE" dirty="0" err="1"/>
              <a:t>maintained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Government </a:t>
            </a:r>
            <a:r>
              <a:rPr lang="de-DE" dirty="0" err="1"/>
              <a:t>of</a:t>
            </a:r>
            <a:r>
              <a:rPr lang="de-DE" dirty="0"/>
              <a:t> British Columbia.</a:t>
            </a:r>
          </a:p>
          <a:p>
            <a:r>
              <a:rPr lang="de-DE" dirty="0" err="1"/>
              <a:t>Crucially</a:t>
            </a:r>
            <a:r>
              <a:rPr lang="de-DE" dirty="0"/>
              <a:t>,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ledger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stores</a:t>
            </a:r>
            <a:r>
              <a:rPr lang="de-DE" dirty="0"/>
              <a:t> </a:t>
            </a:r>
            <a:r>
              <a:rPr lang="de-DE" b="1" dirty="0" err="1"/>
              <a:t>public</a:t>
            </a:r>
            <a:r>
              <a:rPr lang="de-DE" b="1" dirty="0"/>
              <a:t> </a:t>
            </a:r>
            <a:r>
              <a:rPr lang="de-DE" b="1" dirty="0" err="1"/>
              <a:t>trust</a:t>
            </a:r>
            <a:r>
              <a:rPr lang="de-DE" b="1" dirty="0"/>
              <a:t> </a:t>
            </a:r>
            <a:r>
              <a:rPr lang="de-DE" b="1" dirty="0" err="1"/>
              <a:t>data</a:t>
            </a:r>
            <a:r>
              <a:rPr lang="de-DE" dirty="0"/>
              <a:t>—</a:t>
            </a:r>
            <a:r>
              <a:rPr lang="de-DE" dirty="0" err="1"/>
              <a:t>specifically</a:t>
            </a:r>
            <a:r>
              <a:rPr lang="de-DE" dirty="0"/>
              <a:t> DIDs, </a:t>
            </a:r>
            <a:r>
              <a:rPr lang="de-DE" dirty="0" err="1"/>
              <a:t>schemas</a:t>
            </a:r>
            <a:r>
              <a:rPr lang="de-DE" dirty="0"/>
              <a:t>, and </a:t>
            </a:r>
            <a:r>
              <a:rPr lang="de-DE" dirty="0" err="1"/>
              <a:t>revocation</a:t>
            </a:r>
            <a:r>
              <a:rPr lang="de-DE" dirty="0"/>
              <a:t> </a:t>
            </a:r>
            <a:r>
              <a:rPr lang="de-DE" dirty="0" err="1"/>
              <a:t>registries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b="1" dirty="0"/>
              <a:t>not</a:t>
            </a:r>
            <a:r>
              <a:rPr lang="de-DE" dirty="0"/>
              <a:t> </a:t>
            </a:r>
            <a:r>
              <a:rPr lang="de-DE" dirty="0" err="1"/>
              <a:t>store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private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attributes</a:t>
            </a:r>
            <a:r>
              <a:rPr lang="de-DE" dirty="0"/>
              <a:t>;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remain</a:t>
            </a:r>
            <a:r>
              <a:rPr lang="de-DE" dirty="0"/>
              <a:t> </a:t>
            </a:r>
            <a:r>
              <a:rPr lang="de-DE" dirty="0" err="1"/>
              <a:t>securely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wallet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privacy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design."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516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General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flow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186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12ADB-7CF2-E1C4-3F58-B560827D8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99547A-D562-5530-589F-ED49C8658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F7422EB-E605-0EFA-769F-6D84F4BCE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VON Ledger: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b="1" dirty="0" err="1"/>
              <a:t>Hyperledger</a:t>
            </a:r>
            <a:r>
              <a:rPr lang="de-DE" b="1" dirty="0"/>
              <a:t> Indy</a:t>
            </a:r>
            <a:r>
              <a:rPr lang="de-DE" dirty="0"/>
              <a:t> network (</a:t>
            </a:r>
            <a:r>
              <a:rPr lang="de-DE" dirty="0" err="1"/>
              <a:t>running</a:t>
            </a:r>
            <a:r>
              <a:rPr lang="de-DE" dirty="0"/>
              <a:t> 4 </a:t>
            </a:r>
            <a:r>
              <a:rPr lang="de-DE" dirty="0" err="1"/>
              <a:t>nodes</a:t>
            </a:r>
            <a:r>
              <a:rPr lang="de-DE" dirty="0"/>
              <a:t> in Docker).</a:t>
            </a:r>
          </a:p>
          <a:p>
            <a:r>
              <a:rPr lang="de-DE" b="1" dirty="0"/>
              <a:t>Source </a:t>
            </a:r>
            <a:r>
              <a:rPr lang="de-DE" b="1" dirty="0" err="1"/>
              <a:t>of</a:t>
            </a:r>
            <a:r>
              <a:rPr lang="de-DE" b="1" dirty="0"/>
              <a:t> Truth:</a:t>
            </a:r>
            <a:r>
              <a:rPr lang="de-DE" dirty="0"/>
              <a:t> Acts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decentralized</a:t>
            </a:r>
            <a:r>
              <a:rPr lang="de-DE" dirty="0"/>
              <a:t> </a:t>
            </a:r>
            <a:r>
              <a:rPr lang="de-DE" b="1" dirty="0" err="1"/>
              <a:t>Verifiable</a:t>
            </a:r>
            <a:r>
              <a:rPr lang="de-DE" b="1" dirty="0"/>
              <a:t> Data Registry (VDR)</a:t>
            </a:r>
            <a:r>
              <a:rPr lang="de-DE" dirty="0"/>
              <a:t>.</a:t>
            </a:r>
          </a:p>
          <a:p>
            <a:r>
              <a:rPr lang="de-DE" b="1" dirty="0"/>
              <a:t>Transaction Processing:</a:t>
            </a:r>
            <a:r>
              <a:rPr lang="de-DE" dirty="0"/>
              <a:t> </a:t>
            </a:r>
            <a:r>
              <a:rPr lang="de-DE" dirty="0" err="1"/>
              <a:t>Receives</a:t>
            </a:r>
            <a:r>
              <a:rPr lang="de-DE" dirty="0"/>
              <a:t> and </a:t>
            </a:r>
            <a:r>
              <a:rPr lang="de-DE" dirty="0" err="1"/>
              <a:t>validates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REVOC_REG_ENTRY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Issuer.</a:t>
            </a:r>
          </a:p>
          <a:p>
            <a:r>
              <a:rPr lang="de-DE" b="1" dirty="0" err="1"/>
              <a:t>Immutable</a:t>
            </a:r>
            <a:r>
              <a:rPr lang="de-DE" b="1" dirty="0"/>
              <a:t> </a:t>
            </a:r>
            <a:r>
              <a:rPr lang="de-DE" b="1" dirty="0" err="1"/>
              <a:t>Record</a:t>
            </a:r>
            <a:r>
              <a:rPr lang="de-DE" b="1" dirty="0"/>
              <a:t>:</a:t>
            </a:r>
            <a:r>
              <a:rPr lang="de-DE" dirty="0"/>
              <a:t> </a:t>
            </a:r>
            <a:r>
              <a:rPr lang="de-DE" dirty="0" err="1"/>
              <a:t>Assigns</a:t>
            </a:r>
            <a:r>
              <a:rPr lang="de-DE" dirty="0"/>
              <a:t> a </a:t>
            </a:r>
            <a:r>
              <a:rPr lang="de-DE" dirty="0" err="1"/>
              <a:t>unique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(e.g., 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8742</a:t>
            </a:r>
            <a:r>
              <a:rPr lang="de-DE" dirty="0"/>
              <a:t>)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revocation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.</a:t>
            </a:r>
          </a:p>
          <a:p>
            <a:r>
              <a:rPr lang="de-DE" b="1" dirty="0" err="1"/>
              <a:t>Accessibility</a:t>
            </a:r>
            <a:r>
              <a:rPr lang="de-DE" b="1" dirty="0"/>
              <a:t>:</a:t>
            </a:r>
            <a:r>
              <a:rPr lang="de-DE" dirty="0"/>
              <a:t> </a:t>
            </a:r>
            <a:r>
              <a:rPr lang="de-DE" dirty="0" err="1"/>
              <a:t>Provides</a:t>
            </a:r>
            <a:r>
              <a:rPr lang="de-DE" dirty="0"/>
              <a:t> a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endpoint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 err="1"/>
              <a:t>ledger-watcher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detect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in real-time.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D0CEE6-DB18-6B79-0F61-2FB94E755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171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4421-89F3-C318-4D5F-A66AE0370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8C73D86-BFB2-5C52-745D-3C039BFBB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32E39DC-65A7-8CA6-60A5-EB2ECF086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"The </a:t>
            </a:r>
            <a:r>
              <a:rPr lang="de-DE" dirty="0" err="1"/>
              <a:t>ledger-watcher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service</a:t>
            </a:r>
            <a:r>
              <a:rPr lang="de-DE" dirty="0"/>
              <a:t> </a:t>
            </a:r>
            <a:r>
              <a:rPr lang="de-DE" dirty="0" err="1"/>
              <a:t>designed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bridge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gap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ledger</a:t>
            </a:r>
            <a:r>
              <a:rPr lang="de-DE" dirty="0"/>
              <a:t> and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notification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constantly</a:t>
            </a:r>
            <a:r>
              <a:rPr lang="de-DE" dirty="0"/>
              <a:t> </a:t>
            </a:r>
            <a:r>
              <a:rPr lang="de-DE" dirty="0" err="1"/>
              <a:t>polls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VON Ledger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transactions</a:t>
            </a:r>
            <a:r>
              <a:rPr lang="de-DE" dirty="0"/>
              <a:t>. Once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detects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8742,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extracts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transaction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—</a:t>
            </a:r>
            <a:r>
              <a:rPr lang="de-DE" dirty="0" err="1"/>
              <a:t>the</a:t>
            </a:r>
            <a:r>
              <a:rPr lang="de-DE" dirty="0"/>
              <a:t> 'Indy </a:t>
            </a:r>
            <a:r>
              <a:rPr lang="de-DE" dirty="0" err="1"/>
              <a:t>txn</a:t>
            </a:r>
            <a:r>
              <a:rPr lang="de-DE" dirty="0"/>
              <a:t> JSON'—and </a:t>
            </a:r>
            <a:r>
              <a:rPr lang="de-DE" dirty="0" err="1"/>
              <a:t>classifies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relevant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user's</a:t>
            </a:r>
            <a:r>
              <a:rPr lang="de-DE" dirty="0"/>
              <a:t> wallet."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94C06F-049E-FE66-2B78-CE9B4D2B2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0460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A20B-69B0-AA80-A05E-EA9E0389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C519B7-8724-8704-C10D-053146A7D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97B6452-7CD8-CE6B-40B4-9C7BAD6B8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sent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broker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responsible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distributing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wallets</a:t>
            </a:r>
            <a:r>
              <a:rPr lang="de-DE" dirty="0"/>
              <a:t>. But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broker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manipulated</a:t>
            </a:r>
            <a:r>
              <a:rPr lang="de-DE" dirty="0"/>
              <a:t> and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untrusted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normalizer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sign</a:t>
            </a:r>
            <a:r>
              <a:rPr lang="de-DE" dirty="0"/>
              <a:t> it.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31F7AE-1951-379D-B649-7BE56D7F2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307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7924-E152-86A7-4513-088E453C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872E69-F4B0-8705-8DAC-7859377E1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9BFEE0-6923-B383-EE85-26E4037AB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Not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rabbitmy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gov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module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sends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right</a:t>
            </a:r>
            <a:r>
              <a:rPr lang="de-DE" dirty="0">
                <a:solidFill>
                  <a:schemeClr val="bg1"/>
                </a:solidFill>
              </a:rPr>
              <a:t> wallet. </a:t>
            </a:r>
          </a:p>
          <a:p>
            <a:r>
              <a:rPr lang="de-DE" dirty="0">
                <a:solidFill>
                  <a:schemeClr val="bg1"/>
                </a:solidFill>
              </a:rPr>
              <a:t>But </a:t>
            </a:r>
            <a:r>
              <a:rPr lang="de-DE" dirty="0" err="1">
                <a:solidFill>
                  <a:schemeClr val="bg1"/>
                </a:solidFill>
              </a:rPr>
              <a:t>we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carefully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scalizability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here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make</a:t>
            </a:r>
            <a:r>
              <a:rPr lang="de-DE" dirty="0">
                <a:solidFill>
                  <a:schemeClr val="bg1"/>
                </a:solidFill>
              </a:rPr>
              <a:t> sense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one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3682BF-01FA-DFCE-B8A2-5C1201C8D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217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9A8D-8A1D-31DA-1D51-2D6A3246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2FEBB3-D608-38B1-2D28-34E5A0C6D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779555-D0A6-B17A-627E-3A3E19445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Broker-Bridge-Gov: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Encapsulates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into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b="1" dirty="0" err="1">
                <a:solidFill>
                  <a:schemeClr val="bg1"/>
                </a:solidFill>
              </a:rPr>
              <a:t>DIDComm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envelope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ensure</a:t>
            </a:r>
            <a:r>
              <a:rPr lang="de-DE" dirty="0">
                <a:solidFill>
                  <a:schemeClr val="bg1"/>
                </a:solidFill>
              </a:rPr>
              <a:t> end-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-end </a:t>
            </a:r>
            <a:r>
              <a:rPr lang="de-DE" dirty="0" err="1">
                <a:solidFill>
                  <a:schemeClr val="bg1"/>
                </a:solidFill>
              </a:rPr>
              <a:t>encryption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across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"</a:t>
            </a:r>
            <a:r>
              <a:rPr lang="de-DE" dirty="0" err="1">
                <a:solidFill>
                  <a:schemeClr val="bg1"/>
                </a:solidFill>
              </a:rPr>
              <a:t>untrusted</a:t>
            </a:r>
            <a:r>
              <a:rPr lang="de-DE" dirty="0">
                <a:solidFill>
                  <a:schemeClr val="bg1"/>
                </a:solidFill>
              </a:rPr>
              <a:t>"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FF85CB-4ED8-709F-B19C-A6F4E0D59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194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B7DA-FB46-956C-BE05-F8E850AA7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9E0FB1-A5B4-5BB9-ACBC-95678A0AB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665859-B65B-22AC-3EE2-12AE266D1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ACA-Py VDR-</a:t>
            </a:r>
            <a:r>
              <a:rPr lang="de-DE" b="1" dirty="0" err="1">
                <a:solidFill>
                  <a:schemeClr val="bg1"/>
                </a:solidFill>
              </a:rPr>
              <a:t>Notify</a:t>
            </a:r>
            <a:r>
              <a:rPr lang="de-DE" b="1" dirty="0">
                <a:solidFill>
                  <a:schemeClr val="bg1"/>
                </a:solidFill>
              </a:rPr>
              <a:t> Plugin: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Connects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Aries Cloud Agent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enabling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bridge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blockchain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events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stream.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4EB8BF-2F6D-C7C4-A12D-636EBB05B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9404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A3F0-CC52-FBF6-E738-BC4996C7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173F89D-895C-1339-71B8-0FC298CE4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FEF320-2A65-0758-F401-3A38DCA2E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Audit-Log:</a:t>
            </a:r>
            <a:r>
              <a:rPr lang="de-DE" dirty="0">
                <a:solidFill>
                  <a:schemeClr val="bg1"/>
                </a:solidFill>
              </a:rPr>
              <a:t> Records </a:t>
            </a:r>
            <a:r>
              <a:rPr lang="de-DE" dirty="0" err="1">
                <a:solidFill>
                  <a:schemeClr val="bg1"/>
                </a:solidFill>
              </a:rPr>
              <a:t>every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lifecycle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event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(e.g., "</a:t>
            </a:r>
            <a:r>
              <a:rPr lang="de-DE" dirty="0" err="1">
                <a:solidFill>
                  <a:schemeClr val="bg1"/>
                </a:solidFill>
              </a:rPr>
              <a:t>sent</a:t>
            </a:r>
            <a:r>
              <a:rPr lang="de-DE" dirty="0">
                <a:solidFill>
                  <a:schemeClr val="bg1"/>
                </a:solidFill>
              </a:rPr>
              <a:t>", "</a:t>
            </a:r>
            <a:r>
              <a:rPr lang="de-DE" dirty="0" err="1">
                <a:solidFill>
                  <a:schemeClr val="bg1"/>
                </a:solidFill>
              </a:rPr>
              <a:t>received</a:t>
            </a:r>
            <a:r>
              <a:rPr lang="de-DE" dirty="0">
                <a:solidFill>
                  <a:schemeClr val="bg1"/>
                </a:solidFill>
              </a:rPr>
              <a:t>")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ensure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accountability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>
                <a:solidFill>
                  <a:schemeClr val="bg1"/>
                </a:solidFill>
              </a:rPr>
              <a:t>Append-</a:t>
            </a:r>
            <a:r>
              <a:rPr lang="de-DE" b="1" dirty="0" err="1">
                <a:solidFill>
                  <a:schemeClr val="bg1"/>
                </a:solidFill>
              </a:rPr>
              <a:t>to</a:t>
            </a:r>
            <a:r>
              <a:rPr lang="de-DE" b="1" dirty="0">
                <a:solidFill>
                  <a:schemeClr val="bg1"/>
                </a:solidFill>
              </a:rPr>
              <a:t>-Chain: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Persists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audit</a:t>
            </a:r>
            <a:r>
              <a:rPr lang="de-DE" dirty="0">
                <a:solidFill>
                  <a:schemeClr val="bg1"/>
                </a:solidFill>
              </a:rPr>
              <a:t> logs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an </a:t>
            </a:r>
            <a:r>
              <a:rPr lang="de-DE" dirty="0" err="1">
                <a:solidFill>
                  <a:schemeClr val="bg1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transparent and </a:t>
            </a:r>
            <a:r>
              <a:rPr lang="de-DE" dirty="0" err="1">
                <a:solidFill>
                  <a:schemeClr val="bg1"/>
                </a:solidFill>
              </a:rPr>
              <a:t>tamper-proof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verification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A05EA0-A7DE-9480-C115-44BC2BD2B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365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A7B9-E23E-672C-9A56-0AF29E91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9432A6-6490-2AE7-6EEF-AC05DDC66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663CFE8-4C91-0CA5-DE47-C8FC7FFC4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Persistent </a:t>
            </a:r>
            <a:r>
              <a:rPr lang="de-DE" b="1" dirty="0" err="1">
                <a:solidFill>
                  <a:schemeClr val="bg1"/>
                </a:solidFill>
              </a:rPr>
              <a:t>Listener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Maintains</a:t>
            </a:r>
            <a:r>
              <a:rPr lang="de-DE" dirty="0">
                <a:solidFill>
                  <a:schemeClr val="bg1"/>
                </a:solidFill>
              </a:rPr>
              <a:t> a real-time </a:t>
            </a:r>
            <a:r>
              <a:rPr lang="de-DE" dirty="0" err="1">
                <a:solidFill>
                  <a:schemeClr val="bg1"/>
                </a:solidFill>
              </a:rPr>
              <a:t>connection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b="1" dirty="0">
                <a:solidFill>
                  <a:schemeClr val="bg1"/>
                </a:solidFill>
              </a:rPr>
              <a:t>Regional Broker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queue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dart_amqp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or</a:t>
            </a:r>
            <a:r>
              <a:rPr lang="de-DE" dirty="0">
                <a:solidFill>
                  <a:schemeClr val="bg1"/>
                </a:solidFill>
              </a:rPr>
              <a:t> STOMP </a:t>
            </a:r>
            <a:r>
              <a:rPr lang="de-DE" dirty="0" err="1">
                <a:solidFill>
                  <a:schemeClr val="bg1"/>
                </a:solidFill>
              </a:rPr>
              <a:t>protocol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 err="1">
                <a:solidFill>
                  <a:schemeClr val="bg1"/>
                </a:solidFill>
              </a:rPr>
              <a:t>Signature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Verification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Validates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>
                <a:solidFill>
                  <a:schemeClr val="bg1"/>
                </a:solidFill>
              </a:rPr>
              <a:t>Event-</a:t>
            </a:r>
            <a:r>
              <a:rPr lang="de-DE" b="1" dirty="0" err="1">
                <a:solidFill>
                  <a:schemeClr val="bg1"/>
                </a:solidFill>
              </a:rPr>
              <a:t>Normaliser’s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cryptographic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signature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locally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ensure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message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authenticity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 err="1">
                <a:solidFill>
                  <a:schemeClr val="bg1"/>
                </a:solidFill>
              </a:rPr>
              <a:t>Targeted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Consumption</a:t>
            </a:r>
            <a:r>
              <a:rPr lang="de-DE" dirty="0">
                <a:solidFill>
                  <a:schemeClr val="bg1"/>
                </a:solidFill>
              </a:rPr>
              <a:t>: Only </a:t>
            </a:r>
            <a:r>
              <a:rPr lang="de-DE" dirty="0" err="1">
                <a:solidFill>
                  <a:schemeClr val="bg1"/>
                </a:solidFill>
              </a:rPr>
              <a:t>receives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messages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bound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specific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>
                <a:solidFill>
                  <a:schemeClr val="bg1"/>
                </a:solidFill>
              </a:rPr>
              <a:t>DID</a:t>
            </a:r>
            <a:r>
              <a:rPr lang="de-DE" dirty="0">
                <a:solidFill>
                  <a:schemeClr val="bg1"/>
                </a:solidFill>
              </a:rPr>
              <a:t> (e.g., </a:t>
            </a:r>
            <a:r>
              <a:rPr lang="de-DE" dirty="0" err="1">
                <a:solidFill>
                  <a:schemeClr val="bg1"/>
                </a:solidFill>
              </a:rPr>
              <a:t>ssi.gov.revoke.did:sov</a:t>
            </a:r>
            <a:r>
              <a:rPr lang="de-DE" dirty="0">
                <a:solidFill>
                  <a:schemeClr val="bg1"/>
                </a:solidFill>
              </a:rPr>
              <a:t>:...), </a:t>
            </a:r>
            <a:r>
              <a:rPr lang="de-DE" dirty="0" err="1">
                <a:solidFill>
                  <a:schemeClr val="bg1"/>
                </a:solidFill>
              </a:rPr>
              <a:t>ensuring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data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relevance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>
                <a:solidFill>
                  <a:schemeClr val="bg1"/>
                </a:solidFill>
              </a:rPr>
              <a:t>UI/UX Trigger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Instantly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renders</a:t>
            </a:r>
            <a:r>
              <a:rPr lang="de-DE" dirty="0">
                <a:solidFill>
                  <a:schemeClr val="bg1"/>
                </a:solidFill>
              </a:rPr>
              <a:t> an </a:t>
            </a:r>
            <a:r>
              <a:rPr lang="de-DE" b="1" dirty="0" err="1">
                <a:solidFill>
                  <a:schemeClr val="bg1"/>
                </a:solidFill>
              </a:rPr>
              <a:t>Activity</a:t>
            </a:r>
            <a:r>
              <a:rPr lang="de-DE" b="1" dirty="0">
                <a:solidFill>
                  <a:schemeClr val="bg1"/>
                </a:solidFill>
              </a:rPr>
              <a:t> Card</a:t>
            </a:r>
            <a:r>
              <a:rPr lang="de-DE" dirty="0">
                <a:solidFill>
                  <a:schemeClr val="bg1"/>
                </a:solidFill>
              </a:rPr>
              <a:t> (e.g., "</a:t>
            </a:r>
            <a:r>
              <a:rPr lang="de-DE" dirty="0" err="1">
                <a:solidFill>
                  <a:schemeClr val="bg1"/>
                </a:solidFill>
              </a:rPr>
              <a:t>Credential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Revoked</a:t>
            </a:r>
            <a:r>
              <a:rPr lang="de-DE" dirty="0">
                <a:solidFill>
                  <a:schemeClr val="bg1"/>
                </a:solidFill>
              </a:rPr>
              <a:t>")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inform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changes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 err="1">
                <a:solidFill>
                  <a:schemeClr val="bg1"/>
                </a:solidFill>
              </a:rPr>
              <a:t>Resource</a:t>
            </a:r>
            <a:r>
              <a:rPr lang="de-DE" b="1" dirty="0">
                <a:solidFill>
                  <a:schemeClr val="bg1"/>
                </a:solidFill>
              </a:rPr>
              <a:t> Efficiency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Replaces</a:t>
            </a:r>
            <a:r>
              <a:rPr lang="de-DE" dirty="0">
                <a:solidFill>
                  <a:schemeClr val="bg1"/>
                </a:solidFill>
              </a:rPr>
              <a:t> power-</a:t>
            </a:r>
            <a:r>
              <a:rPr lang="de-DE" dirty="0" err="1">
                <a:solidFill>
                  <a:schemeClr val="bg1"/>
                </a:solidFill>
              </a:rPr>
              <a:t>hungry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polling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an </a:t>
            </a:r>
            <a:r>
              <a:rPr lang="de-DE" dirty="0" err="1">
                <a:solidFill>
                  <a:schemeClr val="bg1"/>
                </a:solidFill>
              </a:rPr>
              <a:t>efficient</a:t>
            </a:r>
            <a:r>
              <a:rPr lang="de-DE" dirty="0">
                <a:solidFill>
                  <a:schemeClr val="bg1"/>
                </a:solidFill>
              </a:rPr>
              <a:t> "push"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model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73E0BE-6923-60A6-9052-E672C2C81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523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Show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actual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it.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404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Show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fullfill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task</a:t>
            </a:r>
            <a:r>
              <a:rPr lang="de-DE" dirty="0"/>
              <a:t>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A1E53-D3E3-D548-9E52-C6D1E805227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98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795805-D38A-9262-6791-36D16411B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CF8820-50AA-012E-0D89-4AB84F6DD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77B7A3-82E3-20A2-5911-ED4FE228D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DB8CFE-6C19-F9D4-2F6C-EB15131C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3EBACF-6E8C-FB39-5AAC-5D5BDB5B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5101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3B372-292C-2037-2CFF-31DCB1A5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4E7C2-60F6-02A2-E30B-962E4F6A9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035217-BB6C-5E66-D004-6F3F7D6BA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AE7DAD-37EB-8BE1-63E8-7BF938D6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F1B6B8-4786-58D6-8D6B-1551EB36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A96876-A596-8DF2-6B42-96282462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2B9740-F004-EDAC-576C-120D6EFC3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F4904C-9EEB-C3A6-BDBA-5D077FED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19D51A-FCCE-32D4-EF7E-D826FC20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70A0BF-6E0C-1C3B-D687-94351958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5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9DE32-B57C-D157-4B60-DE57AB67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216DB4-FF9C-C01A-9A92-4C5F71560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726715-FAA5-2709-6CF8-32E156D7E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2C5AD6-9C98-745F-28F7-6333B3E3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58E783-E0B4-C01B-C4B9-397E87CA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8A591D-C373-D357-A532-2BDE4E1E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192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D21BA1-65CD-1169-702F-30C5872A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D05764-51F6-2827-F3FD-F0E10D38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B9695D-1CBC-CCFF-D968-FD92CDE84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F51A7FA-5890-D8F7-E4B7-222203E07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FACCB7A-028A-C7A5-FEB8-43A0B500E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7B92A5-72D9-1C13-5454-F3138492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54CE39B-7000-081F-CB29-76F8BAB1E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4254591-885C-FBF7-010E-1C9E2680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699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66DD7-AE41-197E-8E75-DB216339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B58ACD8-ED8E-B13B-5401-4656BCCF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AADC36-3182-5DB6-80E2-E45EF5482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5204A2-38FF-950E-64A0-685D446F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967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CDAC6D-183D-2E03-1174-F30B8E56E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03F3A6E-2CBC-2418-A34A-C179761C3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439710-6047-61C8-B871-106E63E8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97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4C899-73CE-AF3A-9D71-54ABA0BCA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3CDACD-1B04-B9D3-D421-326C556D8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543F2C-8DE9-1D1C-C418-E40643C91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9C9765-434A-CF14-941C-FE8BFD68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83A8C5-4781-BAEF-7D35-957C40A1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7DD077-400F-6645-B92F-0830763D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94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8766A-A0B1-ADEB-88B7-DDB5F940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1402E4-48F7-C3B0-C677-1907BA85D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7E432F-52E5-F2CE-65E7-531B3977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DB19DB-9327-B0D2-761B-1AB9E3E0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7D6BC5-9C6C-35CB-E5BE-B72D5695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467864-2737-EEB7-AD92-FF3C17A8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30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05313-E12E-157D-E36C-0F5D597D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FFE4CA-FC5E-2E16-4541-793342C3D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A9CCC-4724-FA04-5E7A-C785D8CA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3DA539-AD98-A060-AFD4-45145CCA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68988B-61C3-299B-62B1-8CC594F8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52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51E86B-0645-BBBD-C00C-2BF13BA65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EE5E74-98CE-E1C3-BC83-65ADE080E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87E705-D99B-C8E2-1229-5EB0D447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929281-964E-FA06-F455-F8EEF616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D1DFDD-A6F5-F7DE-8783-4F6940BC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37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80C4E3A-B206-57FD-9495-F5A9495B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68A7BB-913B-FEB0-37E9-56E73FC5D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09BAC6-47A2-B8CA-8FEB-F2C913807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2EB5C-7579-A34B-B722-21B31E14958D}" type="datetimeFigureOut">
              <a:rPr lang="de-DE" smtClean="0"/>
              <a:t>05.05.26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1ADB9-88E4-4799-2D77-BCB88DA6A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0E5E6C-2FDC-56C1-23EA-25A15E48E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F2DC1-C43B-3D46-A42E-792907AC88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9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12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C37A1B-D695-DD23-8B92-EF6371C0E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r>
              <a:rPr lang="de-DE" sz="4100" b="1"/>
              <a:t>DIDComm Realtime Communication &amp; Actionable Notification Interface</a:t>
            </a:r>
            <a:br>
              <a:rPr lang="de-DE" sz="4100" b="1"/>
            </a:br>
            <a:endParaRPr lang="de-DE" sz="41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33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F4B782-1F52-8845-C19B-069985DA5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de-DE" sz="4800" dirty="0"/>
              <a:t>The von-network: </a:t>
            </a:r>
            <a:r>
              <a:rPr lang="de-DE" sz="4800" dirty="0" err="1"/>
              <a:t>testing</a:t>
            </a:r>
            <a:r>
              <a:rPr lang="de-DE" sz="4800" dirty="0"/>
              <a:t> </a:t>
            </a:r>
            <a:r>
              <a:rPr lang="de-DE" sz="4800" dirty="0" err="1"/>
              <a:t>environment</a:t>
            </a:r>
            <a:endParaRPr lang="de-DE" sz="48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E0E4CA-04FD-4712-9979-0D4FACCA6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A032D193-3742-862D-B05B-943198FF99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76" r="3087" b="1"/>
          <a:stretch>
            <a:fillRect/>
          </a:stretch>
        </p:blipFill>
        <p:spPr>
          <a:xfrm>
            <a:off x="838200" y="3003053"/>
            <a:ext cx="5243391" cy="299497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CA8D992-BB3F-47CD-BA18-71D545392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3000055"/>
            <a:ext cx="5243390" cy="2997970"/>
          </a:xfrm>
          <a:prstGeom prst="rect">
            <a:avLst/>
          </a:prstGeom>
          <a:gradFill flip="none" rotWithShape="1">
            <a:gsLst>
              <a:gs pos="100000">
                <a:schemeClr val="accent2">
                  <a:alpha val="20000"/>
                </a:schemeClr>
              </a:gs>
              <a:gs pos="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CF536725-03A6-EEE6-9267-B6CE0BDD21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664798"/>
              </p:ext>
            </p:extLst>
          </p:nvPr>
        </p:nvGraphicFramePr>
        <p:xfrm>
          <a:off x="7229042" y="879355"/>
          <a:ext cx="4124758" cy="51207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4611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43CD-B5D2-BB1F-ACD8-22D2C227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EA3C3D98-BF67-7AA9-D17C-D8A6822336E8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B77DA85E-9B54-8FF8-E680-E55276CFA7C9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ADAE5C99-1A1F-F637-E976-1517DEA8C68E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E3F168DF-1C7B-BA3F-392D-F08CB78AE4ED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5F62572-69A8-4BE1-918C-30773658502A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9EEFC3D5-C369-112A-A164-4989EB0F4DEA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B8E3821C-4640-C2DB-2485-19A15EEDD02B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3E8C4925-CA13-8A58-109A-84905DCF42BC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837F0E-4DF0-ED38-BB28-583EC0922310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E430215A-C578-DA9C-7CAD-B24BD568A49A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rabbitmq</a:t>
            </a:r>
            <a:r>
              <a:rPr lang="de-DE" sz="1400" b="1" kern="1200" dirty="0"/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match: </a:t>
            </a:r>
            <a:r>
              <a:rPr lang="de-DE" sz="1400" kern="1200" dirty="0" err="1"/>
              <a:t>ssi.gov</a:t>
            </a:r>
            <a:r>
              <a:rPr lang="de-DE" sz="1400" kern="1200" dirty="0"/>
              <a:t>.#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CC51BF84-DCDC-16F5-1B93-43A661C4B436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B723D622-1630-8376-E129-2F40B84DF6F9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rabbitma-gov</a:t>
            </a:r>
            <a:endParaRPr lang="de-DE" sz="1400" b="1" kern="1200" dirty="0"/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E112A477-04D2-C6E5-1FBA-B53108329CD4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E35357BF-03CD-7634-DC28-A63E9FECD94B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17C4071E-BA0B-96E6-EFC8-75C0A6907187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AE4C208C-08B5-90C8-7F14-73D1CCDF2E06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ACA-Py wallet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1877DEA8-7BA7-E69E-25A2-6793E3A48403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B040CD04-6EBA-F7B1-BAE2-DFE71C065CEF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727C0D66-8ADC-0793-E87E-4917455A5FB7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renders</a:t>
            </a:r>
            <a:r>
              <a:rPr lang="de-DE" sz="1400" kern="1200" dirty="0"/>
              <a:t> </a:t>
            </a:r>
            <a:r>
              <a:rPr lang="de-DE" sz="1400" kern="1200" dirty="0" err="1"/>
              <a:t>activity</a:t>
            </a:r>
            <a:r>
              <a:rPr lang="de-DE" sz="1400" kern="1200" dirty="0"/>
              <a:t> </a:t>
            </a:r>
            <a:r>
              <a:rPr lang="de-DE" sz="1400" kern="1200" dirty="0" err="1"/>
              <a:t>card</a:t>
            </a:r>
            <a:endParaRPr lang="de-DE" sz="1400" kern="1200" dirty="0"/>
          </a:p>
        </p:txBody>
      </p:sp>
    </p:spTree>
    <p:extLst>
      <p:ext uri="{BB962C8B-B14F-4D97-AF65-F5344CB8AC3E}">
        <p14:creationId xmlns:p14="http://schemas.microsoft.com/office/powerpoint/2010/main" val="59027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217F-EBF6-6C15-0C35-1347F9B5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40195722-E988-95FF-78C0-0FF28A8242D4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C39B3D03-0426-B16E-AB5D-E2FEB73C7A63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>
                <a:solidFill>
                  <a:schemeClr val="bg1"/>
                </a:solidFill>
              </a:rPr>
              <a:t>Issuer ACA-Py </a:t>
            </a:r>
            <a:r>
              <a:rPr lang="de-DE" sz="1400" b="1" kern="1200" dirty="0" err="1">
                <a:solidFill>
                  <a:schemeClr val="bg1"/>
                </a:solidFill>
              </a:rPr>
              <a:t>writes</a:t>
            </a:r>
            <a:r>
              <a:rPr lang="de-DE" sz="1400" b="1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>
                <a:solidFill>
                  <a:schemeClr val="bg1"/>
                </a:solidFill>
              </a:rPr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FCAB593F-A7D3-5BE4-9AE1-118366CC07D5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137FF683-CA5B-4723-15AB-41DD7F614ED9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>
                <a:solidFill>
                  <a:schemeClr val="bg1"/>
                </a:solidFill>
              </a:rPr>
              <a:t>VON </a:t>
            </a:r>
            <a:r>
              <a:rPr lang="de-DE" sz="1400" b="1" kern="1200" dirty="0" err="1">
                <a:solidFill>
                  <a:schemeClr val="bg1"/>
                </a:solidFill>
              </a:rPr>
              <a:t>ledger</a:t>
            </a:r>
            <a:r>
              <a:rPr lang="de-DE" sz="1400" b="1" kern="1200" dirty="0">
                <a:solidFill>
                  <a:schemeClr val="bg1"/>
                </a:solidFill>
              </a:rPr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>
                <a:solidFill>
                  <a:schemeClr val="bg1"/>
                </a:solidFill>
              </a:rPr>
              <a:t>txn</a:t>
            </a:r>
            <a:r>
              <a:rPr lang="de-DE" sz="1400" kern="1200" dirty="0">
                <a:solidFill>
                  <a:schemeClr val="bg1"/>
                </a:solidFill>
              </a:rPr>
              <a:t> at </a:t>
            </a:r>
            <a:r>
              <a:rPr lang="de-DE" sz="1400" kern="1200" dirty="0" err="1">
                <a:solidFill>
                  <a:schemeClr val="bg1"/>
                </a:solidFill>
              </a:rPr>
              <a:t>seq</a:t>
            </a:r>
            <a:r>
              <a:rPr lang="de-DE" sz="1400" kern="1200" dirty="0">
                <a:solidFill>
                  <a:schemeClr val="bg1"/>
                </a:solidFill>
              </a:rPr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278D20C6-05BA-DD1F-D214-F506F663C7F2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21D9D26D-4E8F-EF41-4C68-8D5AD1AA078C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>
                <a:solidFill>
                  <a:schemeClr val="bg1"/>
                </a:solidFill>
              </a:rPr>
              <a:t>ledger-watcher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polls</a:t>
            </a:r>
            <a:r>
              <a:rPr lang="de-DE" sz="1400" kern="1200" dirty="0">
                <a:solidFill>
                  <a:schemeClr val="bg1"/>
                </a:solidFill>
              </a:rPr>
              <a:t> + </a:t>
            </a:r>
            <a:r>
              <a:rPr lang="de-DE" sz="1400" kern="1200" dirty="0" err="1">
                <a:solidFill>
                  <a:schemeClr val="bg1"/>
                </a:solidFill>
              </a:rPr>
              <a:t>classifies</a:t>
            </a:r>
            <a:endParaRPr lang="de-DE" sz="1400" kern="1200" dirty="0">
              <a:solidFill>
                <a:schemeClr val="bg1"/>
              </a:solidFill>
            </a:endParaRPr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871C43BB-02FC-8F1C-DDC1-423207137B58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E5696F42-F70C-E171-9732-48FCD5FAD10E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>
                <a:solidFill>
                  <a:schemeClr val="bg1"/>
                </a:solidFill>
              </a:rPr>
              <a:t>event-</a:t>
            </a:r>
            <a:r>
              <a:rPr lang="de-DE" sz="1400" b="1" kern="1200" dirty="0" err="1">
                <a:solidFill>
                  <a:schemeClr val="bg1"/>
                </a:solidFill>
              </a:rPr>
              <a:t>normaliser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signs</a:t>
            </a:r>
            <a:r>
              <a:rPr lang="de-DE" sz="1400" kern="1200" dirty="0">
                <a:solidFill>
                  <a:schemeClr val="bg1"/>
                </a:solidFill>
              </a:rPr>
              <a:t> + </a:t>
            </a:r>
            <a:r>
              <a:rPr lang="de-DE" sz="1400" kern="1200" dirty="0" err="1">
                <a:solidFill>
                  <a:schemeClr val="bg1"/>
                </a:solidFill>
              </a:rPr>
              <a:t>publishes</a:t>
            </a:r>
            <a:endParaRPr lang="de-DE" sz="1400" kern="1200" dirty="0">
              <a:solidFill>
                <a:schemeClr val="bg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9EABA919-6E06-06E8-1A0E-3716B8DBAB95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51DC5269-D1BB-940E-F64A-4DA7B31424E0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>
                <a:solidFill>
                  <a:schemeClr val="bg1"/>
                </a:solidFill>
              </a:rPr>
              <a:t>rabbitmq</a:t>
            </a:r>
            <a:r>
              <a:rPr lang="de-DE" sz="1400" b="1" kern="1200" dirty="0">
                <a:solidFill>
                  <a:schemeClr val="bg1"/>
                </a:solidFill>
              </a:rPr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topic</a:t>
            </a:r>
            <a:r>
              <a:rPr lang="de-DE" sz="1400" kern="1200" dirty="0">
                <a:solidFill>
                  <a:schemeClr val="bg1"/>
                </a:solidFill>
              </a:rPr>
              <a:t> match: </a:t>
            </a:r>
            <a:r>
              <a:rPr lang="de-DE" sz="1400" kern="1200" dirty="0" err="1">
                <a:solidFill>
                  <a:schemeClr val="bg1"/>
                </a:solidFill>
              </a:rPr>
              <a:t>ssi.gov</a:t>
            </a:r>
            <a:r>
              <a:rPr lang="de-DE" sz="1400" kern="1200" dirty="0">
                <a:solidFill>
                  <a:schemeClr val="bg1"/>
                </a:solidFill>
              </a:rPr>
              <a:t>.#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6D69953B-A214-10A2-426B-2D63585D9C66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98AB3CE3-69BF-9294-EF86-2B488C1D1B6C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>
                <a:solidFill>
                  <a:schemeClr val="bg1"/>
                </a:solidFill>
              </a:rPr>
              <a:t>rabbitma-gov</a:t>
            </a:r>
            <a:endParaRPr lang="de-DE" sz="1400" b="1" kern="1200" dirty="0">
              <a:solidFill>
                <a:schemeClr val="bg1"/>
              </a:solidFill>
            </a:endParaRP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topic</a:t>
            </a:r>
            <a:r>
              <a:rPr lang="de-DE" sz="1400" kern="1200" dirty="0">
                <a:solidFill>
                  <a:schemeClr val="bg1"/>
                </a:solidFill>
              </a:rPr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D4D57162-107B-2F4A-904F-CE6E7F39AAD7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313527F0-E801-7219-C768-F2DF481A12F9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>
                <a:solidFill>
                  <a:schemeClr val="bg1"/>
                </a:solidFill>
              </a:rPr>
              <a:t>broker-bridge-</a:t>
            </a:r>
            <a:r>
              <a:rPr lang="de-DE" sz="1400" b="1" kern="1200" dirty="0" err="1">
                <a:solidFill>
                  <a:schemeClr val="bg1"/>
                </a:solidFill>
              </a:rPr>
              <a:t>gov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wraps</a:t>
            </a:r>
            <a:r>
              <a:rPr lang="de-DE" sz="1400" kern="1200" dirty="0">
                <a:solidFill>
                  <a:schemeClr val="bg1"/>
                </a:solidFill>
              </a:rPr>
              <a:t> in </a:t>
            </a:r>
            <a:r>
              <a:rPr lang="de-DE" sz="1400" kern="1200" dirty="0" err="1">
                <a:solidFill>
                  <a:schemeClr val="bg1"/>
                </a:solidFill>
              </a:rPr>
              <a:t>DIDComm</a:t>
            </a:r>
            <a:endParaRPr lang="de-DE" sz="1400" kern="1200" dirty="0">
              <a:solidFill>
                <a:schemeClr val="bg1"/>
              </a:solidFill>
            </a:endParaRPr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C45893F4-B924-9049-D6D1-B47A91374D6F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07B5A578-DCC1-4CE4-9A5E-ECD60E4224D8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>
                <a:solidFill>
                  <a:schemeClr val="bg1"/>
                </a:solidFill>
              </a:rPr>
              <a:t>ACA-Py wallet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>
                <a:solidFill>
                  <a:schemeClr val="bg1"/>
                </a:solidFill>
              </a:rPr>
              <a:t>vdr-notify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plugin</a:t>
            </a:r>
            <a:endParaRPr lang="de-DE" sz="1400" kern="1200" dirty="0">
              <a:solidFill>
                <a:schemeClr val="bg1"/>
              </a:solidFill>
            </a:endParaRP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B4C84D3A-57FC-D29A-9E35-4CFF3858DAF4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>
              <a:solidFill>
                <a:schemeClr val="bg1"/>
              </a:solidFill>
            </a:endParaRPr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EDDD7A54-74A6-71EE-7D20-53089840097C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>
                <a:solidFill>
                  <a:schemeClr val="bg1"/>
                </a:solidFill>
              </a:rPr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>
                <a:solidFill>
                  <a:schemeClr val="bg1"/>
                </a:solidFill>
              </a:rPr>
              <a:t>appends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to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chain</a:t>
            </a:r>
            <a:endParaRPr lang="de-DE" sz="1400" kern="1200" dirty="0">
              <a:solidFill>
                <a:schemeClr val="bg1"/>
              </a:solidFill>
            </a:endParaRPr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36DB3EF5-BC4F-745B-0458-4BC753C9892D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>
                <a:solidFill>
                  <a:schemeClr val="bg1"/>
                </a:solidFill>
              </a:rPr>
              <a:t>Flutter </a:t>
            </a:r>
            <a:r>
              <a:rPr lang="de-DE" sz="1400" b="1" kern="1200" dirty="0" err="1">
                <a:solidFill>
                  <a:schemeClr val="bg1"/>
                </a:solidFill>
              </a:rPr>
              <a:t>app</a:t>
            </a:r>
            <a:r>
              <a:rPr lang="de-DE" sz="1400" b="1" kern="1200" dirty="0">
                <a:solidFill>
                  <a:schemeClr val="bg1"/>
                </a:solidFill>
              </a:rPr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>
                <a:solidFill>
                  <a:schemeClr val="bg1"/>
                </a:solidFill>
              </a:rPr>
              <a:t>renders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activity</a:t>
            </a:r>
            <a:r>
              <a:rPr lang="de-DE" sz="1400" kern="1200" dirty="0">
                <a:solidFill>
                  <a:schemeClr val="bg1"/>
                </a:solidFill>
              </a:rPr>
              <a:t> </a:t>
            </a:r>
            <a:r>
              <a:rPr lang="de-DE" sz="1400" kern="1200" dirty="0" err="1">
                <a:solidFill>
                  <a:schemeClr val="bg1"/>
                </a:solidFill>
              </a:rPr>
              <a:t>card</a:t>
            </a:r>
            <a:endParaRPr lang="de-DE" sz="1400" kern="1200" dirty="0">
              <a:solidFill>
                <a:schemeClr val="bg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D0A678F-253F-440B-7679-306F0C0EBB01}"/>
              </a:ext>
            </a:extLst>
          </p:cNvPr>
          <p:cNvSpPr txBox="1"/>
          <p:nvPr/>
        </p:nvSpPr>
        <p:spPr>
          <a:xfrm>
            <a:off x="3791607" y="2838062"/>
            <a:ext cx="6101254" cy="224676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Role:</a:t>
            </a:r>
            <a:r>
              <a:rPr lang="de-DE" sz="2000" dirty="0">
                <a:solidFill>
                  <a:schemeClr val="bg1"/>
                </a:solidFill>
              </a:rPr>
              <a:t> Issuer (</a:t>
            </a:r>
            <a:r>
              <a:rPr lang="de-DE" sz="2000" dirty="0" err="1">
                <a:solidFill>
                  <a:schemeClr val="bg1"/>
                </a:solidFill>
              </a:rPr>
              <a:t>utilizing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b="1" dirty="0">
                <a:solidFill>
                  <a:schemeClr val="bg1"/>
                </a:solidFill>
              </a:rPr>
              <a:t>ACA-Py</a:t>
            </a:r>
            <a:r>
              <a:rPr lang="de-DE" sz="2000" dirty="0">
                <a:solidFill>
                  <a:schemeClr val="bg1"/>
                </a:solidFill>
              </a:rPr>
              <a:t> / Aries Cloud Agent Python </a:t>
            </a:r>
            <a:r>
              <a:rPr lang="de-DE" sz="2000" dirty="0" err="1">
                <a:solidFill>
                  <a:schemeClr val="bg1"/>
                </a:solidFill>
              </a:rPr>
              <a:t>framework</a:t>
            </a:r>
            <a:r>
              <a:rPr lang="de-DE" sz="2000" dirty="0">
                <a:solidFill>
                  <a:schemeClr val="bg1"/>
                </a:solidFill>
              </a:rPr>
              <a:t>).</a:t>
            </a:r>
          </a:p>
          <a:p>
            <a:r>
              <a:rPr lang="de-DE" sz="2000" b="1" dirty="0">
                <a:solidFill>
                  <a:schemeClr val="bg1"/>
                </a:solidFill>
              </a:rPr>
              <a:t>Action: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Executes</a:t>
            </a:r>
            <a:r>
              <a:rPr lang="de-DE" sz="2000" dirty="0">
                <a:solidFill>
                  <a:schemeClr val="bg1"/>
                </a:solidFill>
              </a:rPr>
              <a:t> a </a:t>
            </a:r>
            <a:r>
              <a:rPr lang="de-DE" dirty="0">
                <a:solidFill>
                  <a:schemeClr val="bg1"/>
                </a:solidFill>
              </a:rPr>
              <a:t>REVOC_REG_ENTRY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transaction</a:t>
            </a:r>
            <a:r>
              <a:rPr lang="de-DE" sz="2000" dirty="0">
                <a:solidFill>
                  <a:schemeClr val="bg1"/>
                </a:solidFill>
              </a:rPr>
              <a:t>.</a:t>
            </a:r>
          </a:p>
          <a:p>
            <a:r>
              <a:rPr lang="de-DE" sz="2000" b="1" dirty="0">
                <a:solidFill>
                  <a:schemeClr val="bg1"/>
                </a:solidFill>
              </a:rPr>
              <a:t>Purpose:</a:t>
            </a:r>
            <a:r>
              <a:rPr lang="de-DE" sz="2000" dirty="0">
                <a:solidFill>
                  <a:schemeClr val="bg1"/>
                </a:solidFill>
              </a:rPr>
              <a:t> Updates </a:t>
            </a:r>
            <a:r>
              <a:rPr lang="de-DE" sz="2000" dirty="0" err="1">
                <a:solidFill>
                  <a:schemeClr val="bg1"/>
                </a:solidFill>
              </a:rPr>
              <a:t>the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revocation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registry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to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reflect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that</a:t>
            </a:r>
            <a:r>
              <a:rPr lang="de-DE" sz="2000" dirty="0">
                <a:solidFill>
                  <a:schemeClr val="bg1"/>
                </a:solidFill>
              </a:rPr>
              <a:t> a </a:t>
            </a:r>
            <a:r>
              <a:rPr lang="de-DE" sz="2000" dirty="0" err="1">
                <a:solidFill>
                  <a:schemeClr val="bg1"/>
                </a:solidFill>
              </a:rPr>
              <a:t>specific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credential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is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no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longer</a:t>
            </a:r>
            <a:r>
              <a:rPr lang="de-DE" sz="2000" dirty="0">
                <a:solidFill>
                  <a:schemeClr val="bg1"/>
                </a:solidFill>
              </a:rPr>
              <a:t> valid.</a:t>
            </a:r>
          </a:p>
          <a:p>
            <a:r>
              <a:rPr lang="de-DE" sz="2000" b="1" dirty="0">
                <a:solidFill>
                  <a:schemeClr val="bg1"/>
                </a:solidFill>
              </a:rPr>
              <a:t>Data:</a:t>
            </a:r>
            <a:r>
              <a:rPr lang="de-DE" sz="2000" dirty="0">
                <a:solidFill>
                  <a:schemeClr val="bg1"/>
                </a:solidFill>
              </a:rPr>
              <a:t> Only </a:t>
            </a:r>
            <a:r>
              <a:rPr lang="de-DE" sz="2000" dirty="0" err="1">
                <a:solidFill>
                  <a:schemeClr val="bg1"/>
                </a:solidFill>
              </a:rPr>
              <a:t>public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cryptographic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state</a:t>
            </a:r>
            <a:r>
              <a:rPr lang="de-DE" sz="2000" dirty="0">
                <a:solidFill>
                  <a:schemeClr val="bg1"/>
                </a:solidFill>
              </a:rPr>
              <a:t>; </a:t>
            </a:r>
            <a:r>
              <a:rPr lang="de-DE" sz="2000" dirty="0" err="1">
                <a:solidFill>
                  <a:schemeClr val="bg1"/>
                </a:solidFill>
              </a:rPr>
              <a:t>no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b="1" dirty="0">
                <a:solidFill>
                  <a:schemeClr val="bg1"/>
                </a:solidFill>
              </a:rPr>
              <a:t>PII</a:t>
            </a:r>
            <a:r>
              <a:rPr lang="de-DE" sz="2000" dirty="0">
                <a:solidFill>
                  <a:schemeClr val="bg1"/>
                </a:solidFill>
              </a:rPr>
              <a:t> (</a:t>
            </a:r>
            <a:r>
              <a:rPr lang="de-DE" sz="2000" dirty="0" err="1">
                <a:solidFill>
                  <a:schemeClr val="bg1"/>
                </a:solidFill>
              </a:rPr>
              <a:t>Personally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Identifiable</a:t>
            </a:r>
            <a:r>
              <a:rPr lang="de-DE" sz="2000" dirty="0">
                <a:solidFill>
                  <a:schemeClr val="bg1"/>
                </a:solidFill>
              </a:rPr>
              <a:t> Information) </a:t>
            </a:r>
            <a:r>
              <a:rPr lang="de-DE" sz="2000" dirty="0" err="1">
                <a:solidFill>
                  <a:schemeClr val="bg1"/>
                </a:solidFill>
              </a:rPr>
              <a:t>involved</a:t>
            </a:r>
            <a:r>
              <a:rPr lang="de-DE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270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15C0-91E1-31E0-E0F0-22348D1B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948611A1-EFAC-F72E-B394-FBB5040F2751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DDA0806E-E085-E840-4AA7-56226C8456BB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E8AC333F-9F85-D272-17B6-301AF26D2726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0CF166D-47E6-9510-E4EC-4D3E75E829D0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CAB15F3D-06B5-DE48-6E43-A17C5386753A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6F44B06D-F9AC-3786-A21E-0530EFB9DBB6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DB152C50-4982-980A-1350-7BF80155A70E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A0DC223B-ED04-3438-FCF5-7BA4C31CD035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DE6C174-5A04-18A5-B2FE-322F130A162F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24ED2581-03F1-CB22-2F0B-0BB048674FFA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/>
              <a:t>rabbitmq-root topic match: ssi.gov.#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95FD5C12-DB03-4650-29E1-1F3A79F154DA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721B087F-13B0-3316-B1A4-DC9875FD1FE9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/>
              <a:t>rabbitma-gov topic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C8B7D62D-517F-E79C-134A-EED721E510F5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85EF3E72-9896-7D56-B46F-D451725FE9F1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AD3576E5-F0B1-A09D-385D-9E00A47A6586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D99FB604-1E98-DE41-3A7B-1ACC51389E1F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2155052B-819E-F6E5-CB1F-A718239F8134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359C3B5B-540C-CA74-7D49-4305E47C0C39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847D8056-660E-42E2-8176-A271ECFD5179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D3835D6-0B78-0F01-AB36-3FC84AF97F67}"/>
              </a:ext>
            </a:extLst>
          </p:cNvPr>
          <p:cNvSpPr txBox="1"/>
          <p:nvPr/>
        </p:nvSpPr>
        <p:spPr>
          <a:xfrm>
            <a:off x="3484356" y="2546781"/>
            <a:ext cx="7344296" cy="378565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VON Ledger: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Local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b="1" dirty="0" err="1">
                <a:solidFill>
                  <a:schemeClr val="bg1"/>
                </a:solidFill>
              </a:rPr>
              <a:t>Hyperledger</a:t>
            </a:r>
            <a:r>
              <a:rPr lang="de-DE" sz="2400" b="1" dirty="0">
                <a:solidFill>
                  <a:schemeClr val="bg1"/>
                </a:solidFill>
              </a:rPr>
              <a:t> Indy</a:t>
            </a:r>
            <a:r>
              <a:rPr lang="de-DE" sz="2400" dirty="0">
                <a:solidFill>
                  <a:schemeClr val="bg1"/>
                </a:solidFill>
              </a:rPr>
              <a:t> network (</a:t>
            </a:r>
            <a:r>
              <a:rPr lang="de-DE" sz="2400" dirty="0" err="1">
                <a:solidFill>
                  <a:schemeClr val="bg1"/>
                </a:solidFill>
              </a:rPr>
              <a:t>running</a:t>
            </a:r>
            <a:r>
              <a:rPr lang="de-DE" sz="2400" dirty="0">
                <a:solidFill>
                  <a:schemeClr val="bg1"/>
                </a:solidFill>
              </a:rPr>
              <a:t> 4 </a:t>
            </a:r>
            <a:r>
              <a:rPr lang="de-DE" sz="2400" dirty="0" err="1">
                <a:solidFill>
                  <a:schemeClr val="bg1"/>
                </a:solidFill>
              </a:rPr>
              <a:t>nodes</a:t>
            </a:r>
            <a:r>
              <a:rPr lang="de-DE" sz="2400" dirty="0">
                <a:solidFill>
                  <a:schemeClr val="bg1"/>
                </a:solidFill>
              </a:rPr>
              <a:t> in Docker).</a:t>
            </a:r>
          </a:p>
          <a:p>
            <a:r>
              <a:rPr lang="de-DE" sz="2400" b="1" dirty="0">
                <a:solidFill>
                  <a:schemeClr val="bg1"/>
                </a:solidFill>
              </a:rPr>
              <a:t>Source </a:t>
            </a:r>
            <a:r>
              <a:rPr lang="de-DE" sz="2400" b="1" dirty="0" err="1">
                <a:solidFill>
                  <a:schemeClr val="bg1"/>
                </a:solidFill>
              </a:rPr>
              <a:t>of</a:t>
            </a:r>
            <a:r>
              <a:rPr lang="de-DE" sz="2400" b="1" dirty="0">
                <a:solidFill>
                  <a:schemeClr val="bg1"/>
                </a:solidFill>
              </a:rPr>
              <a:t> Truth:</a:t>
            </a:r>
            <a:r>
              <a:rPr lang="de-DE" sz="2400" dirty="0">
                <a:solidFill>
                  <a:schemeClr val="bg1"/>
                </a:solidFill>
              </a:rPr>
              <a:t> Acts </a:t>
            </a:r>
            <a:r>
              <a:rPr lang="de-DE" sz="2400" dirty="0" err="1">
                <a:solidFill>
                  <a:schemeClr val="bg1"/>
                </a:solidFill>
              </a:rPr>
              <a:t>as</a:t>
            </a:r>
            <a:r>
              <a:rPr lang="de-DE" sz="2400" dirty="0">
                <a:solidFill>
                  <a:schemeClr val="bg1"/>
                </a:solidFill>
              </a:rPr>
              <a:t> a </a:t>
            </a:r>
            <a:r>
              <a:rPr lang="de-DE" sz="2400" dirty="0" err="1">
                <a:solidFill>
                  <a:schemeClr val="bg1"/>
                </a:solidFill>
              </a:rPr>
              <a:t>decentralized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b="1" dirty="0" err="1">
                <a:solidFill>
                  <a:schemeClr val="bg1"/>
                </a:solidFill>
              </a:rPr>
              <a:t>Verifiable</a:t>
            </a:r>
            <a:r>
              <a:rPr lang="de-DE" sz="2400" b="1" dirty="0">
                <a:solidFill>
                  <a:schemeClr val="bg1"/>
                </a:solidFill>
              </a:rPr>
              <a:t> Data Registry (VDR)</a:t>
            </a:r>
            <a:r>
              <a:rPr lang="de-DE" sz="2400" dirty="0">
                <a:solidFill>
                  <a:schemeClr val="bg1"/>
                </a:solidFill>
              </a:rPr>
              <a:t>.</a:t>
            </a:r>
          </a:p>
          <a:p>
            <a:r>
              <a:rPr lang="de-DE" sz="2400" b="1" dirty="0">
                <a:solidFill>
                  <a:schemeClr val="bg1"/>
                </a:solidFill>
              </a:rPr>
              <a:t>Transaction Processing: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Receives</a:t>
            </a:r>
            <a:r>
              <a:rPr lang="de-DE" sz="2400" dirty="0">
                <a:solidFill>
                  <a:schemeClr val="bg1"/>
                </a:solidFill>
              </a:rPr>
              <a:t> and </a:t>
            </a:r>
            <a:r>
              <a:rPr lang="de-DE" sz="2400" dirty="0" err="1">
                <a:solidFill>
                  <a:schemeClr val="bg1"/>
                </a:solidFill>
              </a:rPr>
              <a:t>validates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</a:rPr>
              <a:t>REVOC_REG_ENTRY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from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Issuer.</a:t>
            </a:r>
          </a:p>
          <a:p>
            <a:r>
              <a:rPr lang="de-DE" sz="2400" b="1" dirty="0" err="1">
                <a:solidFill>
                  <a:schemeClr val="bg1"/>
                </a:solidFill>
              </a:rPr>
              <a:t>Immutable</a:t>
            </a:r>
            <a:r>
              <a:rPr lang="de-DE" sz="2400" b="1" dirty="0">
                <a:solidFill>
                  <a:schemeClr val="bg1"/>
                </a:solidFill>
              </a:rPr>
              <a:t> </a:t>
            </a:r>
            <a:r>
              <a:rPr lang="de-DE" sz="2400" b="1" dirty="0" err="1">
                <a:solidFill>
                  <a:schemeClr val="bg1"/>
                </a:solidFill>
              </a:rPr>
              <a:t>Record</a:t>
            </a:r>
            <a:r>
              <a:rPr lang="de-DE" sz="2400" b="1" dirty="0">
                <a:solidFill>
                  <a:schemeClr val="bg1"/>
                </a:solidFill>
              </a:rPr>
              <a:t>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Assigns</a:t>
            </a:r>
            <a:r>
              <a:rPr lang="de-DE" sz="2400" dirty="0">
                <a:solidFill>
                  <a:schemeClr val="bg1"/>
                </a:solidFill>
              </a:rPr>
              <a:t> a </a:t>
            </a:r>
            <a:r>
              <a:rPr lang="de-DE" sz="2400" dirty="0" err="1">
                <a:solidFill>
                  <a:schemeClr val="bg1"/>
                </a:solidFill>
              </a:rPr>
              <a:t>unique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sequence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number</a:t>
            </a:r>
            <a:r>
              <a:rPr lang="de-DE" sz="2400" dirty="0">
                <a:solidFill>
                  <a:schemeClr val="bg1"/>
                </a:solidFill>
              </a:rPr>
              <a:t> (e.g., </a:t>
            </a:r>
            <a:r>
              <a:rPr lang="de-DE" dirty="0" err="1">
                <a:solidFill>
                  <a:schemeClr val="bg1"/>
                </a:solidFill>
              </a:rPr>
              <a:t>seq</a:t>
            </a:r>
            <a:r>
              <a:rPr lang="de-DE" dirty="0">
                <a:solidFill>
                  <a:schemeClr val="bg1"/>
                </a:solidFill>
              </a:rPr>
              <a:t> 8742</a:t>
            </a:r>
            <a:r>
              <a:rPr lang="de-DE" sz="2400" dirty="0">
                <a:solidFill>
                  <a:schemeClr val="bg1"/>
                </a:solidFill>
              </a:rPr>
              <a:t>) </a:t>
            </a:r>
            <a:r>
              <a:rPr lang="de-DE" sz="2400" dirty="0" err="1">
                <a:solidFill>
                  <a:schemeClr val="bg1"/>
                </a:solidFill>
              </a:rPr>
              <a:t>to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revocation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event</a:t>
            </a:r>
            <a:r>
              <a:rPr lang="de-DE" sz="2400" dirty="0">
                <a:solidFill>
                  <a:schemeClr val="bg1"/>
                </a:solidFill>
              </a:rPr>
              <a:t>.</a:t>
            </a:r>
          </a:p>
          <a:p>
            <a:r>
              <a:rPr lang="de-DE" sz="2400" b="1" dirty="0" err="1">
                <a:solidFill>
                  <a:schemeClr val="bg1"/>
                </a:solidFill>
              </a:rPr>
              <a:t>Accessibility</a:t>
            </a:r>
            <a:r>
              <a:rPr lang="de-DE" sz="2400" b="1" dirty="0">
                <a:solidFill>
                  <a:schemeClr val="bg1"/>
                </a:solidFill>
              </a:rPr>
              <a:t>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Provides</a:t>
            </a:r>
            <a:r>
              <a:rPr lang="de-DE" sz="2400" dirty="0">
                <a:solidFill>
                  <a:schemeClr val="bg1"/>
                </a:solidFill>
              </a:rPr>
              <a:t> a </a:t>
            </a:r>
            <a:r>
              <a:rPr lang="de-DE" sz="2400" dirty="0" err="1">
                <a:solidFill>
                  <a:schemeClr val="bg1"/>
                </a:solidFill>
              </a:rPr>
              <a:t>public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endpoint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for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b="1" dirty="0" err="1">
                <a:solidFill>
                  <a:schemeClr val="bg1"/>
                </a:solidFill>
              </a:rPr>
              <a:t>ledger-watcher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to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detect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state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changes</a:t>
            </a:r>
            <a:r>
              <a:rPr lang="de-DE" sz="2400" dirty="0">
                <a:solidFill>
                  <a:schemeClr val="bg1"/>
                </a:solidFill>
              </a:rPr>
              <a:t> in real-time.</a:t>
            </a:r>
          </a:p>
        </p:txBody>
      </p:sp>
    </p:spTree>
    <p:extLst>
      <p:ext uri="{BB962C8B-B14F-4D97-AF65-F5344CB8AC3E}">
        <p14:creationId xmlns:p14="http://schemas.microsoft.com/office/powerpoint/2010/main" val="106902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A9992-FCD9-E672-C8DC-F5B5A590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7E8519CF-B8A7-DEF2-4F45-3952B9D178C6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5292F16A-F9A9-AEC1-6EE1-B88893831609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02E9BC3C-BB57-F145-A84E-4679EFB681D4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0644DE8A-37F6-6710-6D69-5DF2A718AA46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592AE86D-A5CE-7ACC-C0A0-A1D3C8F1034B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260B1A32-2E30-3F35-4441-AD00DAF1A9E3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21139670-3D65-51F7-DF4A-C8B24AF86072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03A3D92F-96E0-BB95-AAF9-560FEBAD2AC8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F04ED314-82F0-C7AA-5B11-CAB9D762A9C1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1F19462D-A140-4757-4C64-D0D6A74C3F21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/>
              <a:t>rabbitmq-root topic match: ssi.gov.#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2168E35C-37B2-570E-8129-69DC8116829D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96976263-97EE-C7AC-FC74-1C29E2605071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/>
              <a:t>rabbitma-gov topic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B56A2856-A027-76D1-A003-0166045DD821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45EF9B61-A5CD-F2F9-43A5-B306A9E02F73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195920D5-4776-8C0D-8070-6804043F7FDE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D5EE8056-329F-B499-6A18-7C5326ED3782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05A5858B-5BF7-A122-67DE-D8326604B0F6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9D76DCE9-26DD-3196-1979-5C19ECCB365E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3C9D276E-705F-ED6E-085E-94CE22ED5603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716093F-26FB-D8A2-415A-DEB9189E286F}"/>
              </a:ext>
            </a:extLst>
          </p:cNvPr>
          <p:cNvSpPr txBox="1"/>
          <p:nvPr/>
        </p:nvSpPr>
        <p:spPr>
          <a:xfrm>
            <a:off x="3670559" y="2251307"/>
            <a:ext cx="7344296" cy="452431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Role:</a:t>
            </a:r>
            <a:r>
              <a:rPr lang="de-DE" sz="2400" dirty="0">
                <a:solidFill>
                  <a:schemeClr val="bg1"/>
                </a:solidFill>
              </a:rPr>
              <a:t> Acts </a:t>
            </a:r>
            <a:r>
              <a:rPr lang="de-DE" sz="2400" dirty="0" err="1">
                <a:solidFill>
                  <a:schemeClr val="bg1"/>
                </a:solidFill>
              </a:rPr>
              <a:t>as</a:t>
            </a:r>
            <a:r>
              <a:rPr lang="de-DE" sz="2400" dirty="0">
                <a:solidFill>
                  <a:schemeClr val="bg1"/>
                </a:solidFill>
              </a:rPr>
              <a:t> a </a:t>
            </a:r>
            <a:r>
              <a:rPr lang="de-DE" sz="2400" dirty="0" err="1">
                <a:solidFill>
                  <a:schemeClr val="bg1"/>
                </a:solidFill>
              </a:rPr>
              <a:t>bridge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between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b="1" dirty="0">
                <a:solidFill>
                  <a:schemeClr val="bg1"/>
                </a:solidFill>
              </a:rPr>
              <a:t>VON Ledger</a:t>
            </a:r>
            <a:r>
              <a:rPr lang="de-DE" sz="2400" dirty="0">
                <a:solidFill>
                  <a:schemeClr val="bg1"/>
                </a:solidFill>
              </a:rPr>
              <a:t> and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notification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system</a:t>
            </a:r>
            <a:r>
              <a:rPr lang="de-DE" sz="2400" dirty="0">
                <a:solidFill>
                  <a:schemeClr val="bg1"/>
                </a:solidFill>
              </a:rPr>
              <a:t>.</a:t>
            </a:r>
          </a:p>
          <a:p>
            <a:r>
              <a:rPr lang="de-DE" sz="2400" b="1" dirty="0">
                <a:solidFill>
                  <a:schemeClr val="bg1"/>
                </a:solidFill>
              </a:rPr>
              <a:t>Polling: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Continuously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monitors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ledger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for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new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transactions</a:t>
            </a:r>
            <a:r>
              <a:rPr lang="de-DE" sz="2400" dirty="0">
                <a:solidFill>
                  <a:schemeClr val="bg1"/>
                </a:solidFill>
              </a:rPr>
              <a:t> in real-time.</a:t>
            </a:r>
          </a:p>
          <a:p>
            <a:r>
              <a:rPr lang="de-DE" sz="2400" b="1" dirty="0" err="1">
                <a:solidFill>
                  <a:schemeClr val="bg1"/>
                </a:solidFill>
              </a:rPr>
              <a:t>Detection</a:t>
            </a:r>
            <a:r>
              <a:rPr lang="de-DE" sz="2400" b="1" dirty="0">
                <a:solidFill>
                  <a:schemeClr val="bg1"/>
                </a:solidFill>
              </a:rPr>
              <a:t>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Identifies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specific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events</a:t>
            </a:r>
            <a:r>
              <a:rPr lang="de-DE" sz="2400" dirty="0">
                <a:solidFill>
                  <a:schemeClr val="bg1"/>
                </a:solidFill>
              </a:rPr>
              <a:t>, such </a:t>
            </a:r>
            <a:r>
              <a:rPr lang="de-DE" sz="2400" dirty="0" err="1">
                <a:solidFill>
                  <a:schemeClr val="bg1"/>
                </a:solidFill>
              </a:rPr>
              <a:t>as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</a:rPr>
              <a:t>REVOC_REG_ENTRY</a:t>
            </a:r>
            <a:r>
              <a:rPr lang="de-DE" sz="2400" dirty="0">
                <a:solidFill>
                  <a:schemeClr val="bg1"/>
                </a:solidFill>
              </a:rPr>
              <a:t> at </a:t>
            </a:r>
            <a:r>
              <a:rPr lang="de-DE" sz="2400" dirty="0" err="1">
                <a:solidFill>
                  <a:schemeClr val="bg1"/>
                </a:solidFill>
              </a:rPr>
              <a:t>sequence</a:t>
            </a:r>
            <a:r>
              <a:rPr lang="de-DE" sz="2400" dirty="0">
                <a:solidFill>
                  <a:schemeClr val="bg1"/>
                </a:solidFill>
              </a:rPr>
              <a:t> 8742.</a:t>
            </a:r>
          </a:p>
          <a:p>
            <a:r>
              <a:rPr lang="de-DE" sz="2400" b="1" dirty="0" err="1">
                <a:solidFill>
                  <a:schemeClr val="bg1"/>
                </a:solidFill>
              </a:rPr>
              <a:t>Extraction</a:t>
            </a:r>
            <a:r>
              <a:rPr lang="de-DE" sz="2400" b="1" dirty="0">
                <a:solidFill>
                  <a:schemeClr val="bg1"/>
                </a:solidFill>
              </a:rPr>
              <a:t>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Retrieves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raw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b="1" dirty="0">
                <a:solidFill>
                  <a:schemeClr val="bg1"/>
                </a:solidFill>
              </a:rPr>
              <a:t>Indy </a:t>
            </a:r>
            <a:r>
              <a:rPr lang="de-DE" sz="2400" b="1" dirty="0" err="1">
                <a:solidFill>
                  <a:schemeClr val="bg1"/>
                </a:solidFill>
              </a:rPr>
              <a:t>txn</a:t>
            </a:r>
            <a:r>
              <a:rPr lang="de-DE" sz="2400" b="1" dirty="0">
                <a:solidFill>
                  <a:schemeClr val="bg1"/>
                </a:solidFill>
              </a:rPr>
              <a:t> JSON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directly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from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ledger</a:t>
            </a:r>
            <a:r>
              <a:rPr lang="de-DE" sz="2400" dirty="0">
                <a:solidFill>
                  <a:schemeClr val="bg1"/>
                </a:solidFill>
              </a:rPr>
              <a:t>.</a:t>
            </a:r>
          </a:p>
          <a:p>
            <a:r>
              <a:rPr lang="de-DE" sz="2400" b="1" dirty="0">
                <a:solidFill>
                  <a:schemeClr val="bg1"/>
                </a:solidFill>
              </a:rPr>
              <a:t>Classification: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Categorizes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data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as</a:t>
            </a:r>
            <a:r>
              <a:rPr lang="de-DE" sz="2400" dirty="0">
                <a:solidFill>
                  <a:schemeClr val="bg1"/>
                </a:solidFill>
              </a:rPr>
              <a:t> a relevant </a:t>
            </a:r>
            <a:r>
              <a:rPr lang="de-DE" sz="2400" dirty="0" err="1">
                <a:solidFill>
                  <a:schemeClr val="bg1"/>
                </a:solidFill>
              </a:rPr>
              <a:t>event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for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user’s</a:t>
            </a:r>
            <a:r>
              <a:rPr lang="de-DE" sz="2400" dirty="0">
                <a:solidFill>
                  <a:schemeClr val="bg1"/>
                </a:solidFill>
              </a:rPr>
              <a:t> wallet.</a:t>
            </a:r>
          </a:p>
          <a:p>
            <a:r>
              <a:rPr lang="de-DE" sz="2400" b="1" dirty="0" err="1">
                <a:solidFill>
                  <a:schemeClr val="bg1"/>
                </a:solidFill>
              </a:rPr>
              <a:t>Deployment</a:t>
            </a:r>
            <a:r>
              <a:rPr lang="de-DE" sz="2400" b="1" dirty="0">
                <a:solidFill>
                  <a:schemeClr val="bg1"/>
                </a:solidFill>
              </a:rPr>
              <a:t>:</a:t>
            </a:r>
            <a:r>
              <a:rPr lang="de-DE" sz="2400" dirty="0">
                <a:solidFill>
                  <a:schemeClr val="bg1"/>
                </a:solidFill>
              </a:rPr>
              <a:t> Runs </a:t>
            </a:r>
            <a:r>
              <a:rPr lang="de-DE" sz="2400" dirty="0" err="1">
                <a:solidFill>
                  <a:schemeClr val="bg1"/>
                </a:solidFill>
              </a:rPr>
              <a:t>as</a:t>
            </a:r>
            <a:r>
              <a:rPr lang="de-DE" sz="2400" dirty="0">
                <a:solidFill>
                  <a:schemeClr val="bg1"/>
                </a:solidFill>
              </a:rPr>
              <a:t> a </a:t>
            </a:r>
            <a:r>
              <a:rPr lang="de-DE" sz="2400" dirty="0" err="1">
                <a:solidFill>
                  <a:schemeClr val="bg1"/>
                </a:solidFill>
              </a:rPr>
              <a:t>standalone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b="1" dirty="0" err="1">
                <a:solidFill>
                  <a:schemeClr val="bg1"/>
                </a:solidFill>
              </a:rPr>
              <a:t>microservice</a:t>
            </a:r>
            <a:r>
              <a:rPr lang="de-DE" sz="2400" dirty="0">
                <a:solidFill>
                  <a:schemeClr val="bg1"/>
                </a:solidFill>
              </a:rPr>
              <a:t> (Docker </a:t>
            </a:r>
            <a:r>
              <a:rPr lang="de-DE" sz="2400" dirty="0" err="1">
                <a:solidFill>
                  <a:schemeClr val="bg1"/>
                </a:solidFill>
              </a:rPr>
              <a:t>container</a:t>
            </a:r>
            <a:r>
              <a:rPr lang="de-DE" sz="2400" dirty="0">
                <a:solidFill>
                  <a:schemeClr val="bg1"/>
                </a:solidFill>
              </a:rPr>
              <a:t>) </a:t>
            </a:r>
            <a:r>
              <a:rPr lang="de-DE" sz="2400" dirty="0" err="1">
                <a:solidFill>
                  <a:schemeClr val="bg1"/>
                </a:solidFill>
              </a:rPr>
              <a:t>within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the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  <a:r>
              <a:rPr lang="de-DE" sz="2400" dirty="0" err="1">
                <a:solidFill>
                  <a:schemeClr val="bg1"/>
                </a:solidFill>
              </a:rPr>
              <a:t>infrastructure</a:t>
            </a:r>
            <a:r>
              <a:rPr lang="de-DE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467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B2E4-B08B-CDDB-71DF-2F39F341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2B40E800-B345-0031-E97D-AF6FAF192A01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2C6F3447-8571-03B4-A228-CB0C64301ABA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3E823C1E-26C6-C285-776F-8C1DB1512EA0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721E2343-3BCB-288D-6BAD-8E05A3999E6B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49CA5328-C6FF-4CD7-5DC5-FE76E66A0A95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41FB4BE7-EF40-973B-117D-09F827C16B40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E20C29-E21D-2060-8F3D-A5EF7E3EFF9D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2199CC0A-668C-5D77-520C-6ABA799730B5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B26DF4A-7743-56EA-CCAF-F71AB8618903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8FB62603-87DF-12D1-C37E-491445FCA095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rabbitmq</a:t>
            </a:r>
            <a:r>
              <a:rPr lang="de-DE" sz="1400" b="1" kern="1200" dirty="0"/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match: </a:t>
            </a:r>
            <a:r>
              <a:rPr lang="de-DE" sz="1400" kern="1200" dirty="0" err="1"/>
              <a:t>ssi.gov</a:t>
            </a:r>
            <a:r>
              <a:rPr lang="de-DE" sz="1400" kern="1200" dirty="0"/>
              <a:t>.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9BE6F884-E1AF-6490-EC4D-D34061E0A4A4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9558520C-D27E-F84E-FDF4-C35BC1F29585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rabbitma-gov</a:t>
            </a:r>
            <a:endParaRPr lang="de-DE" sz="1400" b="1" kern="1200" dirty="0"/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AD975168-5E9D-B02C-A6F5-B7745FF9EC37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6794F504-8BF1-E7C3-5775-62ADBBC43BA9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865E02D1-4EDB-E07B-4B32-59A4063286B4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A74095F2-7FDD-0A28-AC69-BAF7A167BD27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D68901E7-F057-FA7E-00B5-DDEA70BF501C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FF128E86-14EC-E9C2-52EF-8C85B216EC14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80BD0A22-663D-42A3-332D-826F71AA4E6D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9E4AB0C-AE8E-BB96-1699-908ECCC9C3A2}"/>
              </a:ext>
            </a:extLst>
          </p:cNvPr>
          <p:cNvSpPr txBox="1"/>
          <p:nvPr/>
        </p:nvSpPr>
        <p:spPr>
          <a:xfrm>
            <a:off x="5467185" y="3705636"/>
            <a:ext cx="6404249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The </a:t>
            </a:r>
            <a:r>
              <a:rPr lang="de-DE" dirty="0" err="1">
                <a:solidFill>
                  <a:schemeClr val="bg1"/>
                </a:solidFill>
              </a:rPr>
              <a:t>message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should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which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responsible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distributing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data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wallets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dirty="0">
                <a:solidFill>
                  <a:schemeClr val="bg1"/>
                </a:solidFill>
              </a:rPr>
              <a:t>But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Untrusted</a:t>
            </a:r>
            <a:r>
              <a:rPr lang="de-DE" b="1" dirty="0">
                <a:solidFill>
                  <a:schemeClr val="bg1"/>
                </a:solidFill>
              </a:rPr>
              <a:t> Infrastructure:</a:t>
            </a:r>
            <a:r>
              <a:rPr lang="de-DE" dirty="0">
                <a:solidFill>
                  <a:schemeClr val="bg1"/>
                </a:solidFill>
              </a:rPr>
              <a:t> The </a:t>
            </a:r>
            <a:r>
              <a:rPr lang="de-DE" dirty="0" err="1">
                <a:solidFill>
                  <a:schemeClr val="bg1"/>
                </a:solidFill>
              </a:rPr>
              <a:t>message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treated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as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potentially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insecure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transport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layer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delay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drop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duplicate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messages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3" name="Grafik 2" descr="Warnung Silhouette">
            <a:extLst>
              <a:ext uri="{FF2B5EF4-FFF2-40B4-BE49-F238E27FC236}">
                <a16:creationId xmlns:a16="http://schemas.microsoft.com/office/drawing/2014/main" id="{33BD7E6D-28B9-58D2-B2F9-79E63E78EB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0317" y="1686973"/>
            <a:ext cx="2199227" cy="219922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9C695F2-83E5-BD99-058E-1EDFAA6A6563}"/>
              </a:ext>
            </a:extLst>
          </p:cNvPr>
          <p:cNvSpPr txBox="1"/>
          <p:nvPr/>
        </p:nvSpPr>
        <p:spPr>
          <a:xfrm>
            <a:off x="189186" y="4132886"/>
            <a:ext cx="5076496" cy="120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End-</a:t>
            </a:r>
            <a:r>
              <a:rPr lang="de-DE" b="1" dirty="0" err="1">
                <a:solidFill>
                  <a:schemeClr val="bg1"/>
                </a:solidFill>
              </a:rPr>
              <a:t>to</a:t>
            </a:r>
            <a:r>
              <a:rPr lang="de-DE" b="1" dirty="0">
                <a:solidFill>
                  <a:schemeClr val="bg1"/>
                </a:solidFill>
              </a:rPr>
              <a:t>-End Integrity: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prevent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forgery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>
                <a:solidFill>
                  <a:schemeClr val="bg1"/>
                </a:solidFill>
              </a:rPr>
              <a:t>Event-</a:t>
            </a:r>
            <a:r>
              <a:rPr lang="de-DE" b="1" dirty="0" err="1">
                <a:solidFill>
                  <a:schemeClr val="bg1"/>
                </a:solidFill>
              </a:rPr>
              <a:t>Normaliser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signs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every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>
                <a:solidFill>
                  <a:schemeClr val="bg1"/>
                </a:solidFill>
              </a:rPr>
              <a:t>Private Key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before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enters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30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1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3A4B-2ACE-6612-E583-01157E5D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9AC85D60-8314-8394-5D38-DA1C0FFDE5AE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E1BE6189-1723-CF8E-D21D-08511F29BC37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6E8ED624-2B55-950F-19D3-D02AAE544EA4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F63A6A2F-ECCD-F2AF-5512-1D5C19334307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48163566-EDBF-BA1D-2AEF-31FF5FFFD727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C6B3E0E3-DBE0-865E-8D45-1CBCC3973430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616F322C-9902-9801-A990-A427B256CCE5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AF3CE69B-37F4-9443-B0B1-7C2FC7013BE4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EE76BA-0E09-432B-AE9E-67895953AB6F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1C09A283-F360-90B5-F32E-1AF5EC9B1E7C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rabbitmq</a:t>
            </a:r>
            <a:r>
              <a:rPr lang="de-DE" sz="1400" b="1" kern="1200" dirty="0"/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match: </a:t>
            </a:r>
            <a:r>
              <a:rPr lang="de-DE" sz="1400" kern="1200" dirty="0" err="1"/>
              <a:t>ssi.gov</a:t>
            </a:r>
            <a:r>
              <a:rPr lang="de-DE" sz="1400" kern="1200" dirty="0"/>
              <a:t>.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7D98BFE-8452-7EF7-AAED-82C7885CEB8D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5D01D2E3-5992-457B-B08F-280E4F453BBB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rabbitma-gov</a:t>
            </a:r>
            <a:endParaRPr lang="de-DE" sz="1400" b="1" kern="1200" dirty="0"/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D44EF543-70AF-3320-6CE1-2F3FD33B7A59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74881AC1-DAFE-2F6C-87D5-63FF2480BE40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C9CB389C-ED91-C62C-BDEB-5A8897D91A02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E4F93762-51AE-0A53-3921-CDF6F423F6DE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F87CBF1A-E940-0194-CFA3-4416604853EB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49F0F154-2A3E-388A-0C2A-D2D30BE63BE3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28F57390-3265-2176-A9B5-7B447A796E8B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C707772-92BF-2018-8903-559A18FFB868}"/>
              </a:ext>
            </a:extLst>
          </p:cNvPr>
          <p:cNvSpPr txBox="1"/>
          <p:nvPr/>
        </p:nvSpPr>
        <p:spPr>
          <a:xfrm>
            <a:off x="5467185" y="3705636"/>
            <a:ext cx="6404249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Not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rabbitmy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gov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module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sends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right</a:t>
            </a:r>
            <a:r>
              <a:rPr lang="de-DE" dirty="0">
                <a:solidFill>
                  <a:schemeClr val="bg1"/>
                </a:solidFill>
              </a:rPr>
              <a:t> wallet. </a:t>
            </a:r>
          </a:p>
          <a:p>
            <a:r>
              <a:rPr lang="de-DE" dirty="0">
                <a:solidFill>
                  <a:schemeClr val="bg1"/>
                </a:solidFill>
              </a:rPr>
              <a:t>But </a:t>
            </a:r>
            <a:r>
              <a:rPr lang="de-DE" dirty="0" err="1">
                <a:solidFill>
                  <a:schemeClr val="bg1"/>
                </a:solidFill>
              </a:rPr>
              <a:t>we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carefully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scalizability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here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make</a:t>
            </a:r>
            <a:r>
              <a:rPr lang="de-DE" dirty="0">
                <a:solidFill>
                  <a:schemeClr val="bg1"/>
                </a:solidFill>
              </a:rPr>
              <a:t> sense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have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one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3" name="Grafik 2" descr="Warnung Silhouette">
            <a:extLst>
              <a:ext uri="{FF2B5EF4-FFF2-40B4-BE49-F238E27FC236}">
                <a16:creationId xmlns:a16="http://schemas.microsoft.com/office/drawing/2014/main" id="{F6AAB7FA-3EDB-F177-A734-5A824B6D5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30317" y="1686973"/>
            <a:ext cx="2199227" cy="219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9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5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FCCC-E37A-D570-9AEA-2024E2B09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9EB28480-6CB6-BE23-8122-0214CECC339F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8F74C892-CC11-630E-A339-76EDCD8AC46C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FB942691-936E-8631-21D2-57C7298F4FA1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4F23994E-3C24-C94D-715D-012BD545C31E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DEFE5AEC-0F7C-AF2E-AB4A-7767BAF148A0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96640216-B752-B25C-6D77-F032D1C5525B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7FFA085E-F7B7-6B08-224A-522B01991112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1EAA1AB8-90EE-1413-C02C-E91267B50471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71DE10FB-1EFA-687E-5786-1E90CEBE7EA4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046B619A-6C9B-C1F0-D0BC-91176D24E054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rabbitmq</a:t>
            </a:r>
            <a:r>
              <a:rPr lang="de-DE" sz="1400" b="1" kern="1200" dirty="0"/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match: </a:t>
            </a:r>
            <a:r>
              <a:rPr lang="de-DE" sz="1400" kern="1200" dirty="0" err="1"/>
              <a:t>ssi.gov</a:t>
            </a:r>
            <a:r>
              <a:rPr lang="de-DE" sz="1400" kern="1200" dirty="0"/>
              <a:t>.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79DC5C3A-21B1-705C-C92E-C7A5E26D63C7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02424214-FF73-545A-B0EA-69A424654E99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rabbitma-gov</a:t>
            </a:r>
            <a:endParaRPr lang="de-DE" sz="1400" b="1" kern="1200" dirty="0"/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620581F8-B6E7-6A7B-6DD8-FB40C4C84910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691F2B60-627D-948D-B0D1-E3761DA139AD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04EA905C-0EBD-6323-A98E-00126D2A15E2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DDB38BA2-D235-FD5B-A1AD-4A326A6E01F3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744E528A-474A-CA91-230C-7FCCAF1798F5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F29CEE76-9ABA-1A44-3583-3DD6FDF7ED45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FEF1EE02-84BE-136F-E786-772BC5F988B7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362D7FA-FF3B-F1CC-B578-8C8D812CA577}"/>
              </a:ext>
            </a:extLst>
          </p:cNvPr>
          <p:cNvSpPr txBox="1"/>
          <p:nvPr/>
        </p:nvSpPr>
        <p:spPr>
          <a:xfrm>
            <a:off x="5219898" y="5240073"/>
            <a:ext cx="6404249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Broker-Bridge-Gov: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Encapsulates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into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b="1" dirty="0" err="1">
                <a:solidFill>
                  <a:schemeClr val="bg1"/>
                </a:solidFill>
              </a:rPr>
              <a:t>DIDComm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envelope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ensure</a:t>
            </a:r>
            <a:r>
              <a:rPr lang="de-DE" dirty="0">
                <a:solidFill>
                  <a:schemeClr val="bg1"/>
                </a:solidFill>
              </a:rPr>
              <a:t> end-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-end </a:t>
            </a:r>
            <a:r>
              <a:rPr lang="de-DE" dirty="0" err="1">
                <a:solidFill>
                  <a:schemeClr val="bg1"/>
                </a:solidFill>
              </a:rPr>
              <a:t>encryption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across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"</a:t>
            </a:r>
            <a:r>
              <a:rPr lang="de-DE" dirty="0" err="1">
                <a:solidFill>
                  <a:schemeClr val="bg1"/>
                </a:solidFill>
              </a:rPr>
              <a:t>untrusted</a:t>
            </a:r>
            <a:r>
              <a:rPr lang="de-DE" dirty="0">
                <a:solidFill>
                  <a:schemeClr val="bg1"/>
                </a:solidFill>
              </a:rPr>
              <a:t>" </a:t>
            </a:r>
            <a:r>
              <a:rPr lang="de-DE" dirty="0" err="1">
                <a:solidFill>
                  <a:schemeClr val="bg1"/>
                </a:solidFill>
              </a:rPr>
              <a:t>broker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432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788E2-437B-14C5-8C31-C29BE31D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0B3D4F40-99E9-EAC8-7C0F-29FBFD769370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3BE803F0-7219-199B-7D3D-73D84E7EC019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2C7420FE-C30E-1632-91D3-A6CF34C1C9E7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43C1423D-CD7D-FC5E-CD60-5277C48BA028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062ED566-A5BC-8459-9A68-F4272C778027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80E38504-B96A-4947-8F8D-9AB0FB818E21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79C3F0F8-4408-DD8A-6CDD-AA2D18A876C1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C3783CE8-1E8C-7877-7832-FF283B26C3DF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369571-A51B-FA65-4A41-9625FCD053F3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F97A971C-4F59-327B-710D-0995917A89DD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rabbitmq</a:t>
            </a:r>
            <a:r>
              <a:rPr lang="de-DE" sz="1400" b="1" kern="1200" dirty="0"/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match: </a:t>
            </a:r>
            <a:r>
              <a:rPr lang="de-DE" sz="1400" kern="1200" dirty="0" err="1"/>
              <a:t>ssi.gov</a:t>
            </a:r>
            <a:r>
              <a:rPr lang="de-DE" sz="1400" kern="1200" dirty="0"/>
              <a:t>.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B3D3BA0F-66C2-C252-4D76-6A52F6A77E37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7E6C4EE3-087C-D8C9-A2D2-C2CB30158826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rabbitma-gov</a:t>
            </a:r>
            <a:endParaRPr lang="de-DE" sz="1400" b="1" kern="1200" dirty="0"/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EBB10A72-C496-179C-7E41-19B67EF33261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99BED6A9-38CE-67C4-4A19-1A32408405D0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44F56BB4-0862-38B1-A5A4-073A1DACB8BD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7B99E654-A2CE-2A10-8798-6BCC2C9723DA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BE0A49EE-426A-8420-A6B6-5BF72004CFF6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030E15E1-327E-AAB5-40EB-A042BEB94CFE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80713C22-0E53-FCCA-CD9A-11E3FE40D2C3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3C342C4-EEDC-138F-B7B3-9FDAE84F8617}"/>
              </a:ext>
            </a:extLst>
          </p:cNvPr>
          <p:cNvSpPr txBox="1"/>
          <p:nvPr/>
        </p:nvSpPr>
        <p:spPr>
          <a:xfrm>
            <a:off x="5219898" y="5240073"/>
            <a:ext cx="6404249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ACA-Py VDR-</a:t>
            </a:r>
            <a:r>
              <a:rPr lang="de-DE" b="1" dirty="0" err="1">
                <a:solidFill>
                  <a:schemeClr val="bg1"/>
                </a:solidFill>
              </a:rPr>
              <a:t>Notify</a:t>
            </a:r>
            <a:r>
              <a:rPr lang="de-DE" b="1" dirty="0">
                <a:solidFill>
                  <a:schemeClr val="bg1"/>
                </a:solidFill>
              </a:rPr>
              <a:t> Plugin: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Connects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Aries Cloud Agent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enabling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bridge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blockchain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events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stream.</a:t>
            </a:r>
          </a:p>
        </p:txBody>
      </p:sp>
    </p:spTree>
    <p:extLst>
      <p:ext uri="{BB962C8B-B14F-4D97-AF65-F5344CB8AC3E}">
        <p14:creationId xmlns:p14="http://schemas.microsoft.com/office/powerpoint/2010/main" val="377474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635F-D397-906E-75C2-BBDC1137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A338030E-8AAF-DE4C-8E1E-9A69C03FE44F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DA55E31B-8C88-8E42-BB7E-A5F3AB3F50CF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98C7355A-8DD6-6AB4-D7DB-3A94A418DA2E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64548B27-061D-A267-D727-497848E2860E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DAB4542E-773A-578C-7849-E97BAF3D26B6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11792B0A-C3F2-C02E-B8AA-FE6C39B97CA6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91AD49D8-EC1E-1324-43DA-C4BF14C2AFC6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246DB2DA-A34D-1280-60F6-6539E94AE86B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DF765F7-127E-DA11-612F-E38A74115550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B79C0DCF-59CC-53F8-D074-E0062F9B6D9D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rabbitmq</a:t>
            </a:r>
            <a:r>
              <a:rPr lang="de-DE" sz="1400" b="1" kern="1200" dirty="0"/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match: </a:t>
            </a:r>
            <a:r>
              <a:rPr lang="de-DE" sz="1400" kern="1200" dirty="0" err="1"/>
              <a:t>ssi.gov</a:t>
            </a:r>
            <a:r>
              <a:rPr lang="de-DE" sz="1400" kern="1200" dirty="0"/>
              <a:t>.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D27F098D-14B6-22A8-C5F6-A9AA944E43E7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590E2519-B8C4-503E-CF22-90B641D9606F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rabbitma-gov</a:t>
            </a:r>
            <a:endParaRPr lang="de-DE" sz="1400" b="1" kern="1200" dirty="0"/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13283C80-EA54-3D1D-7E26-27BCEE699631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3E76DA71-796A-73E8-730E-7AC30004E7AC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C277D72C-E3E7-8B6B-E803-8DE3DA0D8A31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2B3936DA-3BD2-D1F3-63BF-45139C8CAD22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9654B9CB-9877-AF88-6FC9-AE0537C56275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349FB932-1983-8C09-F573-A62BC7C5B6AC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C82206BC-10BD-E92F-F3D1-304E0C3E37B8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4206EBF-67FC-92FB-18D1-7E40B69141DD}"/>
              </a:ext>
            </a:extLst>
          </p:cNvPr>
          <p:cNvSpPr txBox="1"/>
          <p:nvPr/>
        </p:nvSpPr>
        <p:spPr>
          <a:xfrm>
            <a:off x="5219898" y="5240073"/>
            <a:ext cx="6404249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Audit-Log:</a:t>
            </a:r>
            <a:r>
              <a:rPr lang="de-DE" dirty="0">
                <a:solidFill>
                  <a:schemeClr val="bg1"/>
                </a:solidFill>
              </a:rPr>
              <a:t> Records </a:t>
            </a:r>
            <a:r>
              <a:rPr lang="de-DE" dirty="0" err="1">
                <a:solidFill>
                  <a:schemeClr val="bg1"/>
                </a:solidFill>
              </a:rPr>
              <a:t>every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lifecycle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event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(e.g., "</a:t>
            </a:r>
            <a:r>
              <a:rPr lang="de-DE" dirty="0" err="1">
                <a:solidFill>
                  <a:schemeClr val="bg1"/>
                </a:solidFill>
              </a:rPr>
              <a:t>sent</a:t>
            </a:r>
            <a:r>
              <a:rPr lang="de-DE" dirty="0">
                <a:solidFill>
                  <a:schemeClr val="bg1"/>
                </a:solidFill>
              </a:rPr>
              <a:t>", "</a:t>
            </a:r>
            <a:r>
              <a:rPr lang="de-DE" dirty="0" err="1">
                <a:solidFill>
                  <a:schemeClr val="bg1"/>
                </a:solidFill>
              </a:rPr>
              <a:t>received</a:t>
            </a:r>
            <a:r>
              <a:rPr lang="de-DE" dirty="0">
                <a:solidFill>
                  <a:schemeClr val="bg1"/>
                </a:solidFill>
              </a:rPr>
              <a:t>")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ensure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accountability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>
                <a:solidFill>
                  <a:schemeClr val="bg1"/>
                </a:solidFill>
              </a:rPr>
              <a:t>Append-</a:t>
            </a:r>
            <a:r>
              <a:rPr lang="de-DE" b="1" dirty="0" err="1">
                <a:solidFill>
                  <a:schemeClr val="bg1"/>
                </a:solidFill>
              </a:rPr>
              <a:t>to</a:t>
            </a:r>
            <a:r>
              <a:rPr lang="de-DE" b="1" dirty="0">
                <a:solidFill>
                  <a:schemeClr val="bg1"/>
                </a:solidFill>
              </a:rPr>
              <a:t>-Chain: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Persists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audit</a:t>
            </a:r>
            <a:r>
              <a:rPr lang="de-DE" dirty="0">
                <a:solidFill>
                  <a:schemeClr val="bg1"/>
                </a:solidFill>
              </a:rPr>
              <a:t> logs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an </a:t>
            </a:r>
            <a:r>
              <a:rPr lang="de-DE" dirty="0" err="1">
                <a:solidFill>
                  <a:schemeClr val="bg1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transparent and </a:t>
            </a:r>
            <a:r>
              <a:rPr lang="de-DE" dirty="0" err="1">
                <a:solidFill>
                  <a:schemeClr val="bg1"/>
                </a:solidFill>
              </a:rPr>
              <a:t>tamper-proof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verification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860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8D42-1D37-EAC6-D735-C4489AD1E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5">
            <a:extLst>
              <a:ext uri="{FF2B5EF4-FFF2-40B4-BE49-F238E27FC236}">
                <a16:creationId xmlns:a16="http://schemas.microsoft.com/office/drawing/2014/main" id="{5A4D9E55-6D42-484A-4986-4342C2EA4B39}"/>
              </a:ext>
            </a:extLst>
          </p:cNvPr>
          <p:cNvSpPr/>
          <p:nvPr/>
        </p:nvSpPr>
        <p:spPr>
          <a:xfrm>
            <a:off x="481509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2395DC03-F0E4-6EA5-0143-F8D0D7580933}"/>
              </a:ext>
            </a:extLst>
          </p:cNvPr>
          <p:cNvSpPr/>
          <p:nvPr/>
        </p:nvSpPr>
        <p:spPr>
          <a:xfrm>
            <a:off x="306468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Issuer ACA-Py </a:t>
            </a:r>
            <a:r>
              <a:rPr lang="de-DE" sz="1400" b="1" kern="1200" dirty="0" err="1"/>
              <a:t>writes</a:t>
            </a:r>
            <a:r>
              <a:rPr lang="de-DE" sz="1400" b="1" kern="1200" dirty="0"/>
              <a:t> </a:t>
            </a:r>
            <a:r>
              <a:rPr lang="de-DE" sz="1400" kern="1200" dirty="0"/>
              <a:t>REVOC_REG_ENTRY</a:t>
            </a:r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664FF7FB-8F49-84F5-A2D8-A64993B73703}"/>
              </a:ext>
            </a:extLst>
          </p:cNvPr>
          <p:cNvSpPr/>
          <p:nvPr/>
        </p:nvSpPr>
        <p:spPr>
          <a:xfrm>
            <a:off x="6970301" y="1201786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21E43A62-4162-B8A3-0F0C-82CF0B0524BB}"/>
              </a:ext>
            </a:extLst>
          </p:cNvPr>
          <p:cNvSpPr/>
          <p:nvPr/>
        </p:nvSpPr>
        <p:spPr>
          <a:xfrm>
            <a:off x="521989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VON </a:t>
            </a:r>
            <a:r>
              <a:rPr lang="de-DE" sz="1400" b="1" kern="1200" dirty="0" err="1"/>
              <a:t>ledger</a:t>
            </a:r>
            <a:r>
              <a:rPr lang="de-DE" sz="1400" b="1" kern="1200" dirty="0"/>
              <a:t> 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txn</a:t>
            </a:r>
            <a:r>
              <a:rPr lang="de-DE" sz="1400" kern="1200" dirty="0"/>
              <a:t> at </a:t>
            </a:r>
            <a:r>
              <a:rPr lang="de-DE" sz="1400" kern="1200" dirty="0" err="1"/>
              <a:t>seq</a:t>
            </a:r>
            <a:r>
              <a:rPr lang="de-DE" sz="1400" kern="1200" dirty="0"/>
              <a:t> 8742</a:t>
            </a:r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3E49CC59-17AB-62ED-7A02-D957F113B6FD}"/>
              </a:ext>
            </a:extLst>
          </p:cNvPr>
          <p:cNvSpPr/>
          <p:nvPr/>
        </p:nvSpPr>
        <p:spPr>
          <a:xfrm>
            <a:off x="3940790" y="1771367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1" name="Freihandform 10">
            <a:extLst>
              <a:ext uri="{FF2B5EF4-FFF2-40B4-BE49-F238E27FC236}">
                <a16:creationId xmlns:a16="http://schemas.microsoft.com/office/drawing/2014/main" id="{C9B3EE68-1AFF-D2E0-F764-6A571B08A8C8}"/>
              </a:ext>
            </a:extLst>
          </p:cNvPr>
          <p:cNvSpPr/>
          <p:nvPr/>
        </p:nvSpPr>
        <p:spPr>
          <a:xfrm>
            <a:off x="7375108" y="721845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ledger-watcher</a:t>
            </a:r>
            <a:r>
              <a:rPr lang="de-DE" sz="1400" kern="1200" dirty="0"/>
              <a:t> </a:t>
            </a:r>
            <a:r>
              <a:rPr lang="de-DE" sz="1400" kern="1200" dirty="0" err="1"/>
              <a:t>polls</a:t>
            </a:r>
            <a:r>
              <a:rPr lang="de-DE" sz="1400" kern="1200" dirty="0"/>
              <a:t> + </a:t>
            </a:r>
            <a:r>
              <a:rPr lang="de-DE" sz="1400" kern="1200" dirty="0" err="1"/>
              <a:t>classifies</a:t>
            </a:r>
            <a:endParaRPr lang="de-DE" sz="1400" kern="1200" dirty="0"/>
          </a:p>
        </p:txBody>
      </p: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84FE0DDB-7B4B-3B4B-B29B-94171FDC6951}"/>
              </a:ext>
            </a:extLst>
          </p:cNvPr>
          <p:cNvSpPr/>
          <p:nvPr/>
        </p:nvSpPr>
        <p:spPr>
          <a:xfrm>
            <a:off x="481509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9A4FB9B3-516D-463D-5C03-D893C4DA6EF5}"/>
              </a:ext>
            </a:extLst>
          </p:cNvPr>
          <p:cNvSpPr/>
          <p:nvPr/>
        </p:nvSpPr>
        <p:spPr>
          <a:xfrm>
            <a:off x="306468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event-</a:t>
            </a:r>
            <a:r>
              <a:rPr lang="de-DE" sz="1400" b="1" kern="1200" dirty="0" err="1"/>
              <a:t>normaliser</a:t>
            </a:r>
            <a:r>
              <a:rPr lang="de-DE" sz="1400" kern="1200" dirty="0"/>
              <a:t> </a:t>
            </a:r>
            <a:r>
              <a:rPr lang="de-DE" sz="1400" kern="1200" dirty="0" err="1"/>
              <a:t>signs</a:t>
            </a:r>
            <a:r>
              <a:rPr lang="de-DE" sz="1400" kern="1200" dirty="0"/>
              <a:t> + </a:t>
            </a:r>
            <a:r>
              <a:rPr lang="de-DE" sz="1400" kern="1200" dirty="0" err="1"/>
              <a:t>publishes</a:t>
            </a:r>
            <a:endParaRPr lang="de-DE" sz="1400" kern="1200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B86838E9-0FED-0255-33FE-EC985FD6101A}"/>
              </a:ext>
            </a:extLst>
          </p:cNvPr>
          <p:cNvSpPr/>
          <p:nvPr/>
        </p:nvSpPr>
        <p:spPr>
          <a:xfrm>
            <a:off x="6970301" y="2656115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8427A076-837E-C528-E6E5-39E8C3164249}"/>
              </a:ext>
            </a:extLst>
          </p:cNvPr>
          <p:cNvSpPr/>
          <p:nvPr/>
        </p:nvSpPr>
        <p:spPr>
          <a:xfrm>
            <a:off x="521989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rabbitmq</a:t>
            </a:r>
            <a:r>
              <a:rPr lang="de-DE" sz="1400" b="1" kern="1200" dirty="0"/>
              <a:t>-root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match: </a:t>
            </a:r>
            <a:r>
              <a:rPr lang="de-DE" sz="1400" kern="1200" dirty="0" err="1"/>
              <a:t>ssi.gov</a:t>
            </a:r>
            <a:r>
              <a:rPr lang="de-DE" sz="1400" kern="1200" dirty="0"/>
              <a:t>.</a:t>
            </a: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F309F980-D891-FC48-01AE-9DD8E8282BA3}"/>
              </a:ext>
            </a:extLst>
          </p:cNvPr>
          <p:cNvSpPr/>
          <p:nvPr/>
        </p:nvSpPr>
        <p:spPr>
          <a:xfrm>
            <a:off x="3940790" y="3225696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8" rIns="2059680" bIns="184188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3BF30621-2D32-7916-4A91-0C641E5C0F47}"/>
              </a:ext>
            </a:extLst>
          </p:cNvPr>
          <p:cNvSpPr/>
          <p:nvPr/>
        </p:nvSpPr>
        <p:spPr>
          <a:xfrm>
            <a:off x="7375108" y="2176174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 err="1"/>
              <a:t>rabbitma-gov</a:t>
            </a:r>
            <a:endParaRPr lang="de-DE" sz="1400" b="1" kern="1200" dirty="0"/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 </a:t>
            </a:r>
            <a:r>
              <a:rPr lang="de-DE" sz="1400" kern="1200" dirty="0" err="1"/>
              <a:t>topic</a:t>
            </a:r>
            <a:r>
              <a:rPr lang="de-DE" sz="1400" kern="1200" dirty="0"/>
              <a:t> match per wallet</a:t>
            </a: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30B38A46-730A-651F-CC19-0FA047399417}"/>
              </a:ext>
            </a:extLst>
          </p:cNvPr>
          <p:cNvSpPr/>
          <p:nvPr/>
        </p:nvSpPr>
        <p:spPr>
          <a:xfrm>
            <a:off x="481509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7B067A11-BC6A-3C24-4410-F2A047128DA5}"/>
              </a:ext>
            </a:extLst>
          </p:cNvPr>
          <p:cNvSpPr/>
          <p:nvPr/>
        </p:nvSpPr>
        <p:spPr>
          <a:xfrm>
            <a:off x="306468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broker-bridge-</a:t>
            </a:r>
            <a:r>
              <a:rPr lang="de-DE" sz="1400" b="1" kern="1200" dirty="0" err="1"/>
              <a:t>gov</a:t>
            </a:r>
            <a:r>
              <a:rPr lang="de-DE" sz="1400" kern="1200" dirty="0"/>
              <a:t> </a:t>
            </a:r>
            <a:r>
              <a:rPr lang="de-DE" sz="1400" kern="1200" dirty="0" err="1"/>
              <a:t>wraps</a:t>
            </a:r>
            <a:r>
              <a:rPr lang="de-DE" sz="1400" kern="1200" dirty="0"/>
              <a:t> in </a:t>
            </a:r>
            <a:r>
              <a:rPr lang="de-DE" sz="1400" kern="1200" dirty="0" err="1"/>
              <a:t>DIDComm</a:t>
            </a:r>
            <a:endParaRPr lang="de-DE" sz="1400" kern="1200" dirty="0"/>
          </a:p>
        </p:txBody>
      </p: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11165C75-4B9D-FF91-7818-17EFADF21233}"/>
              </a:ext>
            </a:extLst>
          </p:cNvPr>
          <p:cNvSpPr/>
          <p:nvPr/>
        </p:nvSpPr>
        <p:spPr>
          <a:xfrm>
            <a:off x="6970301" y="4110443"/>
            <a:ext cx="372406" cy="91440"/>
          </a:xfrm>
          <a:custGeom>
            <a:avLst/>
            <a:gdLst>
              <a:gd name="csX0" fmla="*/ 0 w 372406"/>
              <a:gd name="csY0" fmla="*/ 45720 h 91440"/>
              <a:gd name="csX1" fmla="*/ 372406 w 372406"/>
              <a:gd name="csY1" fmla="*/ 45720 h 91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2406" h="91440">
                <a:moveTo>
                  <a:pt x="0" y="45720"/>
                </a:moveTo>
                <a:lnTo>
                  <a:pt x="372406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8828" tIns="43705" rIns="188828" bIns="43705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ADA24E70-4327-2FA1-D818-5A7FD298A664}"/>
              </a:ext>
            </a:extLst>
          </p:cNvPr>
          <p:cNvSpPr/>
          <p:nvPr/>
        </p:nvSpPr>
        <p:spPr>
          <a:xfrm>
            <a:off x="521989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ACA-Py wallet </a:t>
            </a:r>
            <a:r>
              <a:rPr lang="de-DE" sz="1400" kern="1200" dirty="0" err="1"/>
              <a:t>vdr-notify</a:t>
            </a:r>
            <a:r>
              <a:rPr lang="de-DE" sz="1400" kern="1200" dirty="0"/>
              <a:t> </a:t>
            </a:r>
            <a:r>
              <a:rPr lang="de-DE" sz="1400" kern="1200" dirty="0" err="1"/>
              <a:t>plugin</a:t>
            </a:r>
            <a:endParaRPr lang="de-DE" sz="1400" kern="1200" dirty="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B496A908-118A-8EB0-6445-9384B8A7B587}"/>
              </a:ext>
            </a:extLst>
          </p:cNvPr>
          <p:cNvSpPr/>
          <p:nvPr/>
        </p:nvSpPr>
        <p:spPr>
          <a:xfrm>
            <a:off x="3940790" y="4680024"/>
            <a:ext cx="4310419" cy="372406"/>
          </a:xfrm>
          <a:custGeom>
            <a:avLst/>
            <a:gdLst>
              <a:gd name="csX0" fmla="*/ 4310419 w 4310419"/>
              <a:gd name="csY0" fmla="*/ 0 h 372406"/>
              <a:gd name="csX1" fmla="*/ 4310419 w 4310419"/>
              <a:gd name="csY1" fmla="*/ 203303 h 372406"/>
              <a:gd name="csX2" fmla="*/ 0 w 4310419"/>
              <a:gd name="csY2" fmla="*/ 203303 h 372406"/>
              <a:gd name="csX3" fmla="*/ 0 w 4310419"/>
              <a:gd name="csY3" fmla="*/ 372406 h 372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419" h="372406">
                <a:moveTo>
                  <a:pt x="4310419" y="0"/>
                </a:moveTo>
                <a:lnTo>
                  <a:pt x="4310419" y="203303"/>
                </a:lnTo>
                <a:lnTo>
                  <a:pt x="0" y="203303"/>
                </a:lnTo>
                <a:lnTo>
                  <a:pt x="0" y="372406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59679" tIns="184189" rIns="2059680" bIns="184187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500" kern="1200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E5AA76DC-3C48-4EFA-DEB5-155A6A7E0625}"/>
              </a:ext>
            </a:extLst>
          </p:cNvPr>
          <p:cNvSpPr/>
          <p:nvPr/>
        </p:nvSpPr>
        <p:spPr>
          <a:xfrm>
            <a:off x="7375108" y="3630502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/>
              <a:t>audit-log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kern="1200" dirty="0" err="1"/>
              <a:t>appends</a:t>
            </a:r>
            <a:r>
              <a:rPr lang="de-DE" sz="1400" kern="1200" dirty="0"/>
              <a:t> </a:t>
            </a:r>
            <a:r>
              <a:rPr lang="de-DE" sz="1400" kern="1200" dirty="0" err="1"/>
              <a:t>to</a:t>
            </a:r>
            <a:r>
              <a:rPr lang="de-DE" sz="1400" kern="1200" dirty="0"/>
              <a:t> </a:t>
            </a:r>
            <a:r>
              <a:rPr lang="de-DE" sz="1400" kern="1200" dirty="0" err="1"/>
              <a:t>chain</a:t>
            </a:r>
            <a:endParaRPr lang="de-DE" sz="1400" kern="1200" dirty="0"/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725B873C-85DD-AC92-8283-CA34C3A12725}"/>
              </a:ext>
            </a:extLst>
          </p:cNvPr>
          <p:cNvSpPr/>
          <p:nvPr/>
        </p:nvSpPr>
        <p:spPr>
          <a:xfrm>
            <a:off x="3064688" y="5084831"/>
            <a:ext cx="1752203" cy="1051321"/>
          </a:xfrm>
          <a:custGeom>
            <a:avLst/>
            <a:gdLst>
              <a:gd name="csX0" fmla="*/ 0 w 1752203"/>
              <a:gd name="csY0" fmla="*/ 0 h 1051321"/>
              <a:gd name="csX1" fmla="*/ 1752203 w 1752203"/>
              <a:gd name="csY1" fmla="*/ 0 h 1051321"/>
              <a:gd name="csX2" fmla="*/ 1752203 w 1752203"/>
              <a:gd name="csY2" fmla="*/ 1051321 h 1051321"/>
              <a:gd name="csX3" fmla="*/ 0 w 1752203"/>
              <a:gd name="csY3" fmla="*/ 1051321 h 1051321"/>
              <a:gd name="csX4" fmla="*/ 0 w 1752203"/>
              <a:gd name="csY4" fmla="*/ 0 h 1051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2203" h="1051321">
                <a:moveTo>
                  <a:pt x="0" y="0"/>
                </a:moveTo>
                <a:lnTo>
                  <a:pt x="1752203" y="0"/>
                </a:lnTo>
                <a:lnTo>
                  <a:pt x="1752203" y="1051321"/>
                </a:lnTo>
                <a:lnTo>
                  <a:pt x="0" y="1051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5859" tIns="90125" rIns="85859" bIns="9012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400" b="1" kern="1200" dirty="0"/>
              <a:t>Flutter </a:t>
            </a:r>
            <a:r>
              <a:rPr lang="de-DE" sz="1400" b="1" kern="1200" dirty="0" err="1"/>
              <a:t>app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renders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activity</a:t>
            </a:r>
            <a:r>
              <a:rPr lang="de-DE" sz="1400" b="1" kern="1200" dirty="0"/>
              <a:t> </a:t>
            </a:r>
            <a:r>
              <a:rPr lang="de-DE" sz="1400" b="1" kern="1200" dirty="0" err="1"/>
              <a:t>card</a:t>
            </a:r>
            <a:endParaRPr lang="de-DE" sz="1400" b="1" kern="12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CB9FE1B-9504-7A8A-966D-7831923FB405}"/>
              </a:ext>
            </a:extLst>
          </p:cNvPr>
          <p:cNvSpPr txBox="1"/>
          <p:nvPr/>
        </p:nvSpPr>
        <p:spPr>
          <a:xfrm>
            <a:off x="5452091" y="2656115"/>
            <a:ext cx="6404249" cy="34163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Persistent </a:t>
            </a:r>
            <a:r>
              <a:rPr lang="de-DE" b="1" dirty="0" err="1">
                <a:solidFill>
                  <a:schemeClr val="bg1"/>
                </a:solidFill>
              </a:rPr>
              <a:t>Listener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Maintains</a:t>
            </a:r>
            <a:r>
              <a:rPr lang="de-DE" dirty="0">
                <a:solidFill>
                  <a:schemeClr val="bg1"/>
                </a:solidFill>
              </a:rPr>
              <a:t> a real-time </a:t>
            </a:r>
            <a:r>
              <a:rPr lang="de-DE" dirty="0" err="1">
                <a:solidFill>
                  <a:schemeClr val="bg1"/>
                </a:solidFill>
              </a:rPr>
              <a:t>connection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b="1" dirty="0">
                <a:solidFill>
                  <a:schemeClr val="bg1"/>
                </a:solidFill>
              </a:rPr>
              <a:t>Regional Broker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queue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dart_amqp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or</a:t>
            </a:r>
            <a:r>
              <a:rPr lang="de-DE" dirty="0">
                <a:solidFill>
                  <a:schemeClr val="bg1"/>
                </a:solidFill>
              </a:rPr>
              <a:t> STOMP </a:t>
            </a:r>
            <a:r>
              <a:rPr lang="de-DE" dirty="0" err="1">
                <a:solidFill>
                  <a:schemeClr val="bg1"/>
                </a:solidFill>
              </a:rPr>
              <a:t>protocol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 err="1">
                <a:solidFill>
                  <a:schemeClr val="bg1"/>
                </a:solidFill>
              </a:rPr>
              <a:t>Signature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Verification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Validates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>
                <a:solidFill>
                  <a:schemeClr val="bg1"/>
                </a:solidFill>
              </a:rPr>
              <a:t>Event-</a:t>
            </a:r>
            <a:r>
              <a:rPr lang="de-DE" b="1" dirty="0" err="1">
                <a:solidFill>
                  <a:schemeClr val="bg1"/>
                </a:solidFill>
              </a:rPr>
              <a:t>Normaliser’s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cryptographic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signature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locally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ensure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message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authenticity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 err="1">
                <a:solidFill>
                  <a:schemeClr val="bg1"/>
                </a:solidFill>
              </a:rPr>
              <a:t>Targeted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Consumption</a:t>
            </a:r>
            <a:r>
              <a:rPr lang="de-DE" dirty="0">
                <a:solidFill>
                  <a:schemeClr val="bg1"/>
                </a:solidFill>
              </a:rPr>
              <a:t>: Only </a:t>
            </a:r>
            <a:r>
              <a:rPr lang="de-DE" dirty="0" err="1">
                <a:solidFill>
                  <a:schemeClr val="bg1"/>
                </a:solidFill>
              </a:rPr>
              <a:t>receives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messages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bound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its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specific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b="1" dirty="0">
                <a:solidFill>
                  <a:schemeClr val="bg1"/>
                </a:solidFill>
              </a:rPr>
              <a:t>DID</a:t>
            </a:r>
            <a:r>
              <a:rPr lang="de-DE" dirty="0">
                <a:solidFill>
                  <a:schemeClr val="bg1"/>
                </a:solidFill>
              </a:rPr>
              <a:t> (e.g., </a:t>
            </a:r>
            <a:r>
              <a:rPr lang="de-DE" dirty="0" err="1">
                <a:solidFill>
                  <a:schemeClr val="bg1"/>
                </a:solidFill>
              </a:rPr>
              <a:t>ssi.gov.revoke.did:sov</a:t>
            </a:r>
            <a:r>
              <a:rPr lang="de-DE" dirty="0">
                <a:solidFill>
                  <a:schemeClr val="bg1"/>
                </a:solidFill>
              </a:rPr>
              <a:t>:...), </a:t>
            </a:r>
            <a:r>
              <a:rPr lang="de-DE" dirty="0" err="1">
                <a:solidFill>
                  <a:schemeClr val="bg1"/>
                </a:solidFill>
              </a:rPr>
              <a:t>ensuring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data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relevance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>
                <a:solidFill>
                  <a:schemeClr val="bg1"/>
                </a:solidFill>
              </a:rPr>
              <a:t>UI/UX Trigger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Instantly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renders</a:t>
            </a:r>
            <a:r>
              <a:rPr lang="de-DE" dirty="0">
                <a:solidFill>
                  <a:schemeClr val="bg1"/>
                </a:solidFill>
              </a:rPr>
              <a:t> an </a:t>
            </a:r>
            <a:r>
              <a:rPr lang="de-DE" b="1" dirty="0" err="1">
                <a:solidFill>
                  <a:schemeClr val="bg1"/>
                </a:solidFill>
              </a:rPr>
              <a:t>Activity</a:t>
            </a:r>
            <a:r>
              <a:rPr lang="de-DE" b="1" dirty="0">
                <a:solidFill>
                  <a:schemeClr val="bg1"/>
                </a:solidFill>
              </a:rPr>
              <a:t> Card</a:t>
            </a:r>
            <a:r>
              <a:rPr lang="de-DE" dirty="0">
                <a:solidFill>
                  <a:schemeClr val="bg1"/>
                </a:solidFill>
              </a:rPr>
              <a:t> (e.g., "</a:t>
            </a:r>
            <a:r>
              <a:rPr lang="de-DE" dirty="0" err="1">
                <a:solidFill>
                  <a:schemeClr val="bg1"/>
                </a:solidFill>
              </a:rPr>
              <a:t>Credential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Revoked</a:t>
            </a:r>
            <a:r>
              <a:rPr lang="de-DE" dirty="0">
                <a:solidFill>
                  <a:schemeClr val="bg1"/>
                </a:solidFill>
              </a:rPr>
              <a:t>")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inform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changes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r>
              <a:rPr lang="de-DE" b="1" dirty="0" err="1">
                <a:solidFill>
                  <a:schemeClr val="bg1"/>
                </a:solidFill>
              </a:rPr>
              <a:t>Resource</a:t>
            </a:r>
            <a:r>
              <a:rPr lang="de-DE" b="1" dirty="0">
                <a:solidFill>
                  <a:schemeClr val="bg1"/>
                </a:solidFill>
              </a:rPr>
              <a:t> Efficiency</a:t>
            </a:r>
            <a:r>
              <a:rPr lang="de-DE" dirty="0">
                <a:solidFill>
                  <a:schemeClr val="bg1"/>
                </a:solidFill>
              </a:rPr>
              <a:t>: </a:t>
            </a:r>
            <a:r>
              <a:rPr lang="de-DE" dirty="0" err="1">
                <a:solidFill>
                  <a:schemeClr val="bg1"/>
                </a:solidFill>
              </a:rPr>
              <a:t>Replaces</a:t>
            </a:r>
            <a:r>
              <a:rPr lang="de-DE" dirty="0">
                <a:solidFill>
                  <a:schemeClr val="bg1"/>
                </a:solidFill>
              </a:rPr>
              <a:t> power-</a:t>
            </a:r>
            <a:r>
              <a:rPr lang="de-DE" dirty="0" err="1">
                <a:solidFill>
                  <a:schemeClr val="bg1"/>
                </a:solidFill>
              </a:rPr>
              <a:t>hungry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ledger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polling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with</a:t>
            </a:r>
            <a:r>
              <a:rPr lang="de-DE" dirty="0">
                <a:solidFill>
                  <a:schemeClr val="bg1"/>
                </a:solidFill>
              </a:rPr>
              <a:t> an </a:t>
            </a:r>
            <a:r>
              <a:rPr lang="de-DE" dirty="0" err="1">
                <a:solidFill>
                  <a:schemeClr val="bg1"/>
                </a:solidFill>
              </a:rPr>
              <a:t>efficient</a:t>
            </a:r>
            <a:r>
              <a:rPr lang="de-DE" dirty="0">
                <a:solidFill>
                  <a:schemeClr val="bg1"/>
                </a:solidFill>
              </a:rPr>
              <a:t> "push" </a:t>
            </a:r>
            <a:r>
              <a:rPr lang="de-DE" dirty="0" err="1">
                <a:solidFill>
                  <a:schemeClr val="bg1"/>
                </a:solidFill>
              </a:rPr>
              <a:t>notification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model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418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3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5C18D-5F41-57F2-EF7B-4D7BB39D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Currently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</a:t>
            </a:r>
            <a:r>
              <a:rPr lang="de-DE" dirty="0" err="1"/>
              <a:t>state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F02EB9-69E4-468A-AF5D-561FE886A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091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D4891C-C354-D66C-BE54-6953C5EC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</a:t>
            </a:r>
            <a:r>
              <a:rPr lang="de-DE" dirty="0" err="1"/>
              <a:t>next</a:t>
            </a:r>
            <a:r>
              <a:rPr lang="de-DE" dirty="0"/>
              <a:t>.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D35F64-5250-3AE0-4DC4-F7E845E34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3933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46AA30-2DBD-386C-D81E-64FD02B6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endParaRPr lang="de-DE" sz="5400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79B411-8C9F-1662-5D63-B57E40327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36F25778-3F76-FAA7-24C7-18C82FD18E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79" r="329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7404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1649</Words>
  <Application>Microsoft Macintosh PowerPoint</Application>
  <PresentationFormat>Breitbild</PresentationFormat>
  <Paragraphs>212</Paragraphs>
  <Slides>15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</vt:lpstr>
      <vt:lpstr>DIDComm Realtime Communication &amp; Actionable Notification Interface </vt:lpstr>
      <vt:lpstr>The von-network: testing environment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Currently implemented state</vt:lpstr>
      <vt:lpstr>What to do next.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7949650108401931</dc:creator>
  <cp:lastModifiedBy>TU-Pseudonym 7949650108401931</cp:lastModifiedBy>
  <cp:revision>1</cp:revision>
  <dcterms:created xsi:type="dcterms:W3CDTF">2026-05-05T13:40:26Z</dcterms:created>
  <dcterms:modified xsi:type="dcterms:W3CDTF">2026-05-05T19:01:52Z</dcterms:modified>
</cp:coreProperties>
</file>